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taphon Kitsanakarakat" userId="34fbd52d53948f28" providerId="LiveId" clId="{2ACBE802-F97E-4423-8328-9FB178187958}"/>
    <pc:docChg chg="custSel modSld">
      <pc:chgData name="Kantaphon Kitsanakarakat" userId="34fbd52d53948f28" providerId="LiveId" clId="{2ACBE802-F97E-4423-8328-9FB178187958}" dt="2026-09-09T12:30:44.872" v="53" actId="1076"/>
      <pc:docMkLst>
        <pc:docMk/>
      </pc:docMkLst>
      <pc:sldChg chg="addSp delSp modSp mod">
        <pc:chgData name="Kantaphon Kitsanakarakat" userId="34fbd52d53948f28" providerId="LiveId" clId="{2ACBE802-F97E-4423-8328-9FB178187958}" dt="2026-09-09T12:30:06.669" v="47" actId="1076"/>
        <pc:sldMkLst>
          <pc:docMk/>
          <pc:sldMk cId="0" sldId="272"/>
        </pc:sldMkLst>
        <pc:spChg chg="del">
          <ac:chgData name="Kantaphon Kitsanakarakat" userId="34fbd52d53948f28" providerId="LiveId" clId="{2ACBE802-F97E-4423-8328-9FB178187958}" dt="2026-09-09T12:28:34.142" v="5" actId="478"/>
          <ac:spMkLst>
            <pc:docMk/>
            <pc:sldMk cId="0" sldId="272"/>
            <ac:spMk id="58" creationId="{00000000-0000-0000-0000-000000000000}"/>
          </ac:spMkLst>
        </pc:spChg>
        <pc:spChg chg="del">
          <ac:chgData name="Kantaphon Kitsanakarakat" userId="34fbd52d53948f28" providerId="LiveId" clId="{2ACBE802-F97E-4423-8328-9FB178187958}" dt="2026-09-09T12:28:37.983" v="7" actId="478"/>
          <ac:spMkLst>
            <pc:docMk/>
            <pc:sldMk cId="0" sldId="272"/>
            <ac:spMk id="59" creationId="{00000000-0000-0000-0000-000000000000}"/>
          </ac:spMkLst>
        </pc:spChg>
        <pc:spChg chg="del mod">
          <ac:chgData name="Kantaphon Kitsanakarakat" userId="34fbd52d53948f28" providerId="LiveId" clId="{2ACBE802-F97E-4423-8328-9FB178187958}" dt="2026-09-09T12:28:40.873" v="11" actId="478"/>
          <ac:spMkLst>
            <pc:docMk/>
            <pc:sldMk cId="0" sldId="272"/>
            <ac:spMk id="60" creationId="{00000000-0000-0000-0000-000000000000}"/>
          </ac:spMkLst>
        </pc:spChg>
        <pc:spChg chg="del">
          <ac:chgData name="Kantaphon Kitsanakarakat" userId="34fbd52d53948f28" providerId="LiveId" clId="{2ACBE802-F97E-4423-8328-9FB178187958}" dt="2026-09-09T12:28:36.793" v="6" actId="478"/>
          <ac:spMkLst>
            <pc:docMk/>
            <pc:sldMk cId="0" sldId="272"/>
            <ac:spMk id="61" creationId="{00000000-0000-0000-0000-000000000000}"/>
          </ac:spMkLst>
        </pc:spChg>
        <pc:spChg chg="del">
          <ac:chgData name="Kantaphon Kitsanakarakat" userId="34fbd52d53948f28" providerId="LiveId" clId="{2ACBE802-F97E-4423-8328-9FB178187958}" dt="2026-09-09T12:28:41.448" v="12" actId="478"/>
          <ac:spMkLst>
            <pc:docMk/>
            <pc:sldMk cId="0" sldId="272"/>
            <ac:spMk id="62" creationId="{00000000-0000-0000-0000-000000000000}"/>
          </ac:spMkLst>
        </pc:spChg>
        <pc:spChg chg="del mod">
          <ac:chgData name="Kantaphon Kitsanakarakat" userId="34fbd52d53948f28" providerId="LiveId" clId="{2ACBE802-F97E-4423-8328-9FB178187958}" dt="2026-09-09T12:28:43.293" v="14" actId="478"/>
          <ac:spMkLst>
            <pc:docMk/>
            <pc:sldMk cId="0" sldId="272"/>
            <ac:spMk id="63" creationId="{00000000-0000-0000-0000-000000000000}"/>
          </ac:spMkLst>
        </pc:spChg>
        <pc:picChg chg="add mod">
          <ac:chgData name="Kantaphon Kitsanakarakat" userId="34fbd52d53948f28" providerId="LiveId" clId="{2ACBE802-F97E-4423-8328-9FB178187958}" dt="2026-09-09T12:30:06.669" v="47" actId="1076"/>
          <ac:picMkLst>
            <pc:docMk/>
            <pc:sldMk cId="0" sldId="272"/>
            <ac:picMk id="68" creationId="{9AB61EF2-AF7D-8E7A-8477-2A05A1E6EC47}"/>
          </ac:picMkLst>
        </pc:picChg>
        <pc:picChg chg="add del mod">
          <ac:chgData name="Kantaphon Kitsanakarakat" userId="34fbd52d53948f28" providerId="LiveId" clId="{2ACBE802-F97E-4423-8328-9FB178187958}" dt="2026-09-09T12:28:56.035" v="20" actId="478"/>
          <ac:picMkLst>
            <pc:docMk/>
            <pc:sldMk cId="0" sldId="272"/>
            <ac:picMk id="70" creationId="{0424E62B-B9FB-B217-02E3-F0C4D7C11FA4}"/>
          </ac:picMkLst>
        </pc:picChg>
        <pc:picChg chg="add del mod">
          <ac:chgData name="Kantaphon Kitsanakarakat" userId="34fbd52d53948f28" providerId="LiveId" clId="{2ACBE802-F97E-4423-8328-9FB178187958}" dt="2026-09-09T12:28:56.035" v="20" actId="478"/>
          <ac:picMkLst>
            <pc:docMk/>
            <pc:sldMk cId="0" sldId="272"/>
            <ac:picMk id="72" creationId="{22A90903-B7AA-070C-F4B2-8074D3761A0A}"/>
          </ac:picMkLst>
        </pc:picChg>
        <pc:picChg chg="add mod">
          <ac:chgData name="Kantaphon Kitsanakarakat" userId="34fbd52d53948f28" providerId="LiveId" clId="{2ACBE802-F97E-4423-8328-9FB178187958}" dt="2026-09-09T12:29:42.024" v="40" actId="1076"/>
          <ac:picMkLst>
            <pc:docMk/>
            <pc:sldMk cId="0" sldId="272"/>
            <ac:picMk id="74" creationId="{804E78F1-0755-4C33-258B-5032E4EC100F}"/>
          </ac:picMkLst>
        </pc:picChg>
        <pc:picChg chg="add mod">
          <ac:chgData name="Kantaphon Kitsanakarakat" userId="34fbd52d53948f28" providerId="LiveId" clId="{2ACBE802-F97E-4423-8328-9FB178187958}" dt="2026-09-09T12:29:38.798" v="39" actId="1076"/>
          <ac:picMkLst>
            <pc:docMk/>
            <pc:sldMk cId="0" sldId="272"/>
            <ac:picMk id="76" creationId="{4DC81C44-7678-57AD-FC8E-90B49F93D432}"/>
          </ac:picMkLst>
        </pc:picChg>
      </pc:sldChg>
      <pc:sldChg chg="addSp delSp modSp mod">
        <pc:chgData name="Kantaphon Kitsanakarakat" userId="34fbd52d53948f28" providerId="LiveId" clId="{2ACBE802-F97E-4423-8328-9FB178187958}" dt="2026-09-09T12:30:44.872" v="53" actId="1076"/>
        <pc:sldMkLst>
          <pc:docMk/>
          <pc:sldMk cId="0" sldId="274"/>
        </pc:sldMkLst>
        <pc:spChg chg="del">
          <ac:chgData name="Kantaphon Kitsanakarakat" userId="34fbd52d53948f28" providerId="LiveId" clId="{2ACBE802-F97E-4423-8328-9FB178187958}" dt="2026-09-09T12:30:30.232" v="48" actId="478"/>
          <ac:spMkLst>
            <pc:docMk/>
            <pc:sldMk cId="0" sldId="274"/>
            <ac:spMk id="16" creationId="{00000000-0000-0000-0000-000000000000}"/>
          </ac:spMkLst>
        </pc:spChg>
        <pc:spChg chg="del">
          <ac:chgData name="Kantaphon Kitsanakarakat" userId="34fbd52d53948f28" providerId="LiveId" clId="{2ACBE802-F97E-4423-8328-9FB178187958}" dt="2026-09-09T12:30:30.232" v="48" actId="478"/>
          <ac:spMkLst>
            <pc:docMk/>
            <pc:sldMk cId="0" sldId="274"/>
            <ac:spMk id="17" creationId="{00000000-0000-0000-0000-000000000000}"/>
          </ac:spMkLst>
        </pc:spChg>
        <pc:spChg chg="del">
          <ac:chgData name="Kantaphon Kitsanakarakat" userId="34fbd52d53948f28" providerId="LiveId" clId="{2ACBE802-F97E-4423-8328-9FB178187958}" dt="2026-09-09T12:30:30.232" v="48" actId="478"/>
          <ac:spMkLst>
            <pc:docMk/>
            <pc:sldMk cId="0" sldId="274"/>
            <ac:spMk id="18" creationId="{00000000-0000-0000-0000-000000000000}"/>
          </ac:spMkLst>
        </pc:spChg>
        <pc:spChg chg="del">
          <ac:chgData name="Kantaphon Kitsanakarakat" userId="34fbd52d53948f28" providerId="LiveId" clId="{2ACBE802-F97E-4423-8328-9FB178187958}" dt="2026-09-09T12:30:30.232" v="48" actId="478"/>
          <ac:spMkLst>
            <pc:docMk/>
            <pc:sldMk cId="0" sldId="274"/>
            <ac:spMk id="19" creationId="{00000000-0000-0000-0000-000000000000}"/>
          </ac:spMkLst>
        </pc:spChg>
        <pc:spChg chg="del">
          <ac:chgData name="Kantaphon Kitsanakarakat" userId="34fbd52d53948f28" providerId="LiveId" clId="{2ACBE802-F97E-4423-8328-9FB178187958}" dt="2026-09-09T12:30:30.232" v="48" actId="478"/>
          <ac:spMkLst>
            <pc:docMk/>
            <pc:sldMk cId="0" sldId="274"/>
            <ac:spMk id="20" creationId="{00000000-0000-0000-0000-000000000000}"/>
          </ac:spMkLst>
        </pc:spChg>
        <pc:spChg chg="del">
          <ac:chgData name="Kantaphon Kitsanakarakat" userId="34fbd52d53948f28" providerId="LiveId" clId="{2ACBE802-F97E-4423-8328-9FB178187958}" dt="2026-09-09T12:30:30.232" v="48" actId="478"/>
          <ac:spMkLst>
            <pc:docMk/>
            <pc:sldMk cId="0" sldId="274"/>
            <ac:spMk id="21" creationId="{00000000-0000-0000-0000-000000000000}"/>
          </ac:spMkLst>
        </pc:spChg>
        <pc:picChg chg="add mod">
          <ac:chgData name="Kantaphon Kitsanakarakat" userId="34fbd52d53948f28" providerId="LiveId" clId="{2ACBE802-F97E-4423-8328-9FB178187958}" dt="2026-09-09T12:30:44.872" v="53" actId="1076"/>
          <ac:picMkLst>
            <pc:docMk/>
            <pc:sldMk cId="0" sldId="274"/>
            <ac:picMk id="42" creationId="{86819F9E-36F6-3EFA-BCB8-C692F54D6EF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80BD4B-D064-0649-9BA2-E2D67D46BCE5}" type="datetimeFigureOut">
              <a:rPr lang="en-TH" smtClean="0"/>
              <a:t>10/9/2026 R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BAA41-9C9C-DE42-BC83-116BC84593B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10229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We're proposing a five-stage pipelined CPU implementing</a:t>
            </a:r>
          </a:p>
          <a:p>
            <a:r>
              <a:rPr lang="en-US" dirty="0"/>
              <a:t>    the RISC-V RV32I instruction set, written in Verilog and verified in</a:t>
            </a:r>
          </a:p>
          <a:p>
            <a:r>
              <a:rPr lang="en-US" dirty="0"/>
              <a:t>    </a:t>
            </a:r>
            <a:r>
              <a:rPr lang="en-US" dirty="0" err="1"/>
              <a:t>Vivado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   Three of us. I own the design, [name] owns the RTL and the toolchain,</a:t>
            </a:r>
          </a:p>
          <a:p>
            <a:r>
              <a:rPr lang="en-US" dirty="0"/>
              <a:t>    [name] owns verification and measurement.</a:t>
            </a:r>
          </a:p>
          <a:p>
            <a:endParaRPr lang="en-US" dirty="0"/>
          </a:p>
          <a:p>
            <a:r>
              <a:rPr lang="en-US" dirty="0"/>
              <a:t>Point at the </a:t>
            </a:r>
            <a:r>
              <a:rPr lang="en-US" dirty="0" err="1"/>
              <a:t>coloured</a:t>
            </a:r>
            <a:r>
              <a:rPr lang="en-US" dirty="0"/>
              <a:t> blocks. "Those five </a:t>
            </a:r>
            <a:r>
              <a:rPr lang="en-US" dirty="0" err="1"/>
              <a:t>colours</a:t>
            </a:r>
            <a:r>
              <a:rPr lang="en-US" dirty="0"/>
              <a:t> are the pipeline stages and</a:t>
            </a:r>
          </a:p>
          <a:p>
            <a:r>
              <a:rPr lang="en-US" dirty="0"/>
              <a:t>they're used consistently throughout. The three underneath are the bypass</a:t>
            </a:r>
          </a:p>
          <a:p>
            <a:r>
              <a:rPr lang="en-US" dirty="0"/>
              <a:t>network, the interlock, and a flush."</a:t>
            </a:r>
          </a:p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1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03149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task, verbatim. Design a pipelined CPU with more than</a:t>
            </a:r>
          </a:p>
          <a:p>
            <a:r>
              <a:rPr lang="en-US" dirty="0"/>
              <a:t>    sixteen instructions, implement it in Verilog HDL, and use the</a:t>
            </a:r>
          </a:p>
          <a:p>
            <a:r>
              <a:rPr lang="en-US" dirty="0"/>
              <a:t>    simulation tools to show its function and its performance. Bonus marks</a:t>
            </a:r>
          </a:p>
          <a:p>
            <a:r>
              <a:rPr lang="en-US" dirty="0"/>
              <a:t>    for interrupts, cache and branch prediction.</a:t>
            </a:r>
          </a:p>
          <a:p>
            <a:endParaRPr lang="en-US" dirty="0"/>
          </a:p>
          <a:p>
            <a:r>
              <a:rPr lang="en-US" dirty="0"/>
              <a:t>    What we commit to deliver is on the top right. A five-stage in-order</a:t>
            </a:r>
          </a:p>
          <a:p>
            <a:r>
              <a:rPr lang="en-US" dirty="0"/>
              <a:t>    RV32I pipeline with forty-six encodings, full forwarding, a load-use</a:t>
            </a:r>
          </a:p>
          <a:p>
            <a:r>
              <a:rPr lang="en-US" dirty="0"/>
              <a:t>    interlock and flush-based recovery. Two of the three bonuses — branch</a:t>
            </a:r>
          </a:p>
          <a:p>
            <a:r>
              <a:rPr lang="en-US" dirty="0"/>
              <a:t>    prediction and interrupts — each built so it can be switched off,</a:t>
            </a:r>
          </a:p>
          <a:p>
            <a:r>
              <a:rPr lang="en-US" dirty="0"/>
              <a:t>    because a feature you can't disable is a feature you can't measure. An</a:t>
            </a:r>
          </a:p>
          <a:p>
            <a:r>
              <a:rPr lang="en-US" dirty="0"/>
              <a:t>    assembler and an independent reference model, because the tool the</a:t>
            </a:r>
          </a:p>
          <a:p>
            <a:r>
              <a:rPr lang="en-US" dirty="0"/>
              <a:t>    brief names cannot execute this instruction set. And the evidence: a</a:t>
            </a:r>
          </a:p>
          <a:p>
            <a:r>
              <a:rPr lang="en-US" dirty="0"/>
              <a:t>    self-checking test suite, a design document, and a synthesis report on</a:t>
            </a:r>
          </a:p>
          <a:p>
            <a:r>
              <a:rPr lang="en-US" dirty="0"/>
              <a:t>    a named part.</a:t>
            </a:r>
          </a:p>
          <a:p>
            <a:endParaRPr lang="en-US" dirty="0"/>
          </a:p>
          <a:p>
            <a:r>
              <a:rPr lang="en-US" dirty="0"/>
              <a:t>    Below that is how we'll know it's done. Four criteria. Correctness</a:t>
            </a:r>
          </a:p>
          <a:p>
            <a:r>
              <a:rPr lang="en-US" dirty="0"/>
              <a:t>    checked against an independent implementation, not against our own</a:t>
            </a:r>
          </a:p>
          <a:p>
            <a:r>
              <a:rPr lang="en-US" dirty="0"/>
              <a:t>    expectations. Function shown in simulation, with every test stating</a:t>
            </a:r>
          </a:p>
          <a:p>
            <a:r>
              <a:rPr lang="en-US" dirty="0"/>
              <a:t>    its own pass or fail. Performance measured by switching a feature off</a:t>
            </a:r>
          </a:p>
          <a:p>
            <a:r>
              <a:rPr lang="en-US" dirty="0"/>
              <a:t>    and re-running the same programs — a number with no baseline proves</a:t>
            </a:r>
          </a:p>
          <a:p>
            <a:r>
              <a:rPr lang="en-US" dirty="0"/>
              <a:t>    nothing. And an fmax and </a:t>
            </a:r>
            <a:r>
              <a:rPr lang="en-US" dirty="0" err="1"/>
              <a:t>utilisation</a:t>
            </a:r>
            <a:r>
              <a:rPr lang="en-US" dirty="0"/>
              <a:t> figure with the critical path</a:t>
            </a:r>
          </a:p>
          <a:p>
            <a:r>
              <a:rPr lang="en-US" dirty="0"/>
              <a:t>    identified.</a:t>
            </a:r>
          </a:p>
          <a:p>
            <a:endParaRPr lang="en-US" dirty="0"/>
          </a:p>
          <a:p>
            <a:r>
              <a:rPr lang="en-US" dirty="0"/>
              <a:t>    Two things are explicitly out of scope. No FPGA board, because the</a:t>
            </a:r>
          </a:p>
          <a:p>
            <a:r>
              <a:rPr lang="en-US" dirty="0"/>
              <a:t>    brief asks for simulation. And no instruction cache — the next slide</a:t>
            </a:r>
          </a:p>
          <a:p>
            <a:r>
              <a:rPr lang="en-US" dirty="0"/>
              <a:t>    but one says why.</a:t>
            </a:r>
          </a:p>
          <a:p>
            <a:endParaRPr lang="en-US" dirty="0"/>
          </a:p>
          <a:p>
            <a:r>
              <a:rPr lang="en-US" dirty="0"/>
              <a:t>    [RIGHT] And I should be straight with you about where this proposal</a:t>
            </a:r>
          </a:p>
          <a:p>
            <a:r>
              <a:rPr lang="en-US" dirty="0"/>
              <a:t>    stands. We're past proposing it on paper. A working prototype already</a:t>
            </a:r>
          </a:p>
          <a:p>
            <a:r>
              <a:rPr lang="en-US" dirty="0"/>
              <a:t>    meets every criterion on this slide, and the rest of the talk is the</a:t>
            </a:r>
          </a:p>
          <a:p>
            <a:r>
              <a:rPr lang="en-US" dirty="0"/>
              <a:t>    evidence.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86837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job was to produce the specification the RTL was written against,</a:t>
            </a:r>
          </a:p>
          <a:p>
            <a:r>
              <a:rPr lang="en-US" dirty="0"/>
              <a:t>    before any Verilog existed.</a:t>
            </a:r>
          </a:p>
          <a:p>
            <a:endParaRPr lang="en-US" dirty="0"/>
          </a:p>
          <a:p>
            <a:r>
              <a:rPr lang="en-US" dirty="0"/>
              <a:t>    Six areas. The five-stage structure and what every pipeline register</a:t>
            </a:r>
          </a:p>
          <a:p>
            <a:r>
              <a:rPr lang="en-US" dirty="0"/>
              <a:t>    carries. The instruction subset and all six immediate formats. The</a:t>
            </a:r>
          </a:p>
          <a:p>
            <a:r>
              <a:rPr lang="en-US" dirty="0"/>
              <a:t>    hazard rules — what forwards, what stalls, what gets flushed. The</a:t>
            </a:r>
          </a:p>
          <a:p>
            <a:r>
              <a:rPr lang="en-US" dirty="0"/>
              <a:t>    memory subsystem, sizes, byte lanes and reset. The trap semantics. And</a:t>
            </a:r>
          </a:p>
          <a:p>
            <a:r>
              <a:rPr lang="en-US" dirty="0"/>
              <a:t>    reading every RTL module against the spec before it was committed.</a:t>
            </a:r>
          </a:p>
          <a:p>
            <a:endParaRPr lang="en-US" dirty="0"/>
          </a:p>
          <a:p>
            <a:r>
              <a:rPr lang="en-US" dirty="0"/>
              <a:t>    The number I'd point to is the control truth table: forty-six</a:t>
            </a:r>
          </a:p>
          <a:p>
            <a:r>
              <a:rPr lang="en-US" dirty="0"/>
              <a:t>    instructions, twenty-two control signals each. It's in the design</a:t>
            </a:r>
          </a:p>
          <a:p>
            <a:r>
              <a:rPr lang="en-US" dirty="0"/>
              <a:t>    document, and it's GENERATED from the same source that generates the</a:t>
            </a:r>
          </a:p>
          <a:p>
            <a:r>
              <a:rPr lang="en-US" dirty="0"/>
              <a:t>    decoder's simulation vectors. So the document and the test cannot</a:t>
            </a:r>
          </a:p>
          <a:p>
            <a:r>
              <a:rPr lang="en-US" dirty="0"/>
              <a:t>    drift apart. Change the decode and both move together, or the build</a:t>
            </a:r>
          </a:p>
          <a:p>
            <a:r>
              <a:rPr lang="en-US" dirty="0"/>
              <a:t>    fails.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654504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The brief asks for more than sixteen instructions. We implement forty-</a:t>
            </a:r>
          </a:p>
          <a:p>
            <a:r>
              <a:rPr lang="en-US" dirty="0"/>
              <a:t>    six encodings: thirty-seven core RV32I plus nine system instructions.</a:t>
            </a:r>
          </a:p>
          <a:p>
            <a:endParaRPr lang="en-US" dirty="0"/>
          </a:p>
          <a:p>
            <a:r>
              <a:rPr lang="en-US" dirty="0"/>
              <a:t>    [RIGHT] Ten register-register operations, nine immediate arithmetic,</a:t>
            </a:r>
          </a:p>
          <a:p>
            <a:r>
              <a:rPr lang="en-US" dirty="0"/>
              <a:t>    five loads, three stores, six branches, two upper-immediate, two</a:t>
            </a:r>
          </a:p>
          <a:p>
            <a:r>
              <a:rPr lang="en-US" dirty="0"/>
              <a:t>    jumps. Then the nine system encodings — the six CSR instructions,</a:t>
            </a:r>
          </a:p>
          <a:p>
            <a:r>
              <a:rPr lang="en-US" dirty="0"/>
              <a:t>    </a:t>
            </a:r>
            <a:r>
              <a:rPr lang="en-US" dirty="0" err="1"/>
              <a:t>ecall</a:t>
            </a:r>
            <a:r>
              <a:rPr lang="en-US" dirty="0"/>
              <a:t>, </a:t>
            </a:r>
            <a:r>
              <a:rPr lang="en-US" dirty="0" err="1"/>
              <a:t>ebreak</a:t>
            </a:r>
            <a:r>
              <a:rPr lang="en-US" dirty="0"/>
              <a:t> and </a:t>
            </a:r>
            <a:r>
              <a:rPr lang="en-US" dirty="0" err="1"/>
              <a:t>mret</a:t>
            </a:r>
            <a:r>
              <a:rPr lang="en-US" dirty="0"/>
              <a:t>. Those exist because of the interrupt bonus.</a:t>
            </a:r>
          </a:p>
          <a:p>
            <a:endParaRPr lang="en-US" dirty="0"/>
          </a:p>
          <a:p>
            <a:r>
              <a:rPr lang="en-US" dirty="0"/>
              <a:t>    One detail: RV32I has no halt instruction, so we use </a:t>
            </a:r>
            <a:r>
              <a:rPr lang="en-US" dirty="0" err="1"/>
              <a:t>ebreak</a:t>
            </a:r>
            <a:r>
              <a:rPr lang="en-US" dirty="0"/>
              <a:t> as the</a:t>
            </a:r>
          </a:p>
          <a:p>
            <a:r>
              <a:rPr lang="en-US" dirty="0"/>
              <a:t>    simulation halt. When it retires it raises a done flag and the</a:t>
            </a:r>
          </a:p>
          <a:p>
            <a:r>
              <a:rPr lang="en-US" dirty="0"/>
              <a:t>    testbench stops.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4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075962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decisions, each shown with the alternative we rejected.</a:t>
            </a:r>
          </a:p>
          <a:p>
            <a:endParaRPr lang="en-US" dirty="0"/>
          </a:p>
          <a:p>
            <a:r>
              <a:rPr lang="en-US" dirty="0"/>
              <a:t>    RISC-V rather than MIPS, because it's a clean orthogonal encoding we</a:t>
            </a:r>
          </a:p>
          <a:p>
            <a:r>
              <a:rPr lang="en-US" dirty="0"/>
              <a:t>    could write our own assembler and reference model for.</a:t>
            </a:r>
          </a:p>
          <a:p>
            <a:endParaRPr lang="en-US" dirty="0"/>
          </a:p>
          <a:p>
            <a:r>
              <a:rPr lang="en-US" dirty="0"/>
              <a:t>    Five stages rather than single-cycle or something deeper, because it's</a:t>
            </a:r>
          </a:p>
          <a:p>
            <a:r>
              <a:rPr lang="en-US" dirty="0"/>
              <a:t>    the shallowest design that still exposes all three hazard classes.</a:t>
            </a:r>
          </a:p>
          <a:p>
            <a:r>
              <a:rPr lang="en-US" dirty="0"/>
              <a:t>    That's the point of the exercise.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jal</a:t>
            </a:r>
            <a:r>
              <a:rPr lang="en-US" dirty="0"/>
              <a:t> resolved in decode and branches in execute, rather than everything</a:t>
            </a:r>
          </a:p>
          <a:p>
            <a:r>
              <a:rPr lang="en-US" dirty="0"/>
              <a:t>    in one stage. </a:t>
            </a:r>
            <a:r>
              <a:rPr lang="en-US" dirty="0" err="1"/>
              <a:t>jal</a:t>
            </a:r>
            <a:r>
              <a:rPr lang="en-US" dirty="0"/>
              <a:t> needs no register value, so resolving it early costs</a:t>
            </a:r>
          </a:p>
          <a:p>
            <a:r>
              <a:rPr lang="en-US" dirty="0"/>
              <a:t>    nothing. A branch needs a comparison, and doing that in execute keeps</a:t>
            </a:r>
          </a:p>
          <a:p>
            <a:r>
              <a:rPr lang="en-US" dirty="0"/>
              <a:t>    it off the decode path.</a:t>
            </a:r>
          </a:p>
          <a:p>
            <a:endParaRPr lang="en-US" dirty="0"/>
          </a:p>
          <a:p>
            <a:r>
              <a:rPr lang="en-US" dirty="0"/>
              <a:t>    The two bonuses we took are both cheap in area and both produce a</a:t>
            </a:r>
          </a:p>
          <a:p>
            <a:r>
              <a:rPr lang="en-US" dirty="0"/>
              <a:t>    number we can report.</a:t>
            </a:r>
          </a:p>
          <a:p>
            <a:endParaRPr lang="en-US" dirty="0"/>
          </a:p>
          <a:p>
            <a:r>
              <a:rPr lang="en-US" dirty="0"/>
              <a:t>    [RIGHT] And the one we cut, which is the highlighted row. An</a:t>
            </a:r>
          </a:p>
          <a:p>
            <a:r>
              <a:rPr lang="en-US" dirty="0"/>
              <a:t>    instruction cache sitting behind a single-cycle memory would make a</a:t>
            </a:r>
          </a:p>
          <a:p>
            <a:r>
              <a:rPr lang="en-US" dirty="0"/>
              <a:t>    hit and a miss cost exactly the same, so CPI would not move at all.</a:t>
            </a:r>
          </a:p>
          <a:p>
            <a:r>
              <a:rPr lang="en-US" dirty="0"/>
              <a:t>    And our entire test suite fits in two kilobytes, so the hit rate would</a:t>
            </a:r>
          </a:p>
          <a:p>
            <a:r>
              <a:rPr lang="en-US" dirty="0"/>
              <a:t>    read about ninety-nine percent on every program we ran. It's designed</a:t>
            </a:r>
          </a:p>
          <a:p>
            <a:r>
              <a:rPr lang="en-US" dirty="0"/>
              <a:t>    and written up in the report. We didn't build it, and that was a</a:t>
            </a:r>
          </a:p>
          <a:p>
            <a:r>
              <a:rPr lang="en-US" dirty="0"/>
              <a:t>    measurement argument, not a schedule one.</a:t>
            </a:r>
          </a:p>
          <a:p>
            <a:endParaRPr lang="en-US" dirty="0"/>
          </a:p>
          <a:p>
            <a:r>
              <a:rPr lang="en-US" dirty="0"/>
              <a:t>    Last two rows: our own reference model, because Mars executes MIPS and</a:t>
            </a:r>
          </a:p>
          <a:p>
            <a:r>
              <a:rPr lang="en-US" dirty="0"/>
              <a:t>    cannot check RISC-V. And simulation plus a synthesis report rather</a:t>
            </a:r>
          </a:p>
          <a:p>
            <a:r>
              <a:rPr lang="en-US" dirty="0"/>
              <a:t>    than a board, because the brief asks for simulation and synthesis</a:t>
            </a:r>
          </a:p>
          <a:p>
            <a:r>
              <a:rPr lang="en-US" dirty="0"/>
              <a:t>    still gives us fmax without board bring-up risk.</a:t>
            </a:r>
          </a:p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5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95710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builds. This is the architecture slide — do not rush it.</a:t>
            </a:r>
          </a:p>
          <a:p>
            <a:endParaRPr lang="en-US" dirty="0"/>
          </a:p>
          <a:p>
            <a:r>
              <a:rPr lang="en-US" dirty="0"/>
              <a:t>    This is the </a:t>
            </a:r>
            <a:r>
              <a:rPr lang="en-US" dirty="0" err="1"/>
              <a:t>datapath</a:t>
            </a:r>
            <a:r>
              <a:rPr lang="en-US" dirty="0"/>
              <a:t> we're proposing. Let me build it up.</a:t>
            </a:r>
          </a:p>
          <a:p>
            <a:endParaRPr lang="en-US" dirty="0"/>
          </a:p>
          <a:p>
            <a:r>
              <a:rPr lang="en-US" dirty="0"/>
              <a:t>    [STEP 1] Five stages. Fetch reads instruction memory and looks up the</a:t>
            </a:r>
          </a:p>
          <a:p>
            <a:r>
              <a:rPr lang="en-US" dirty="0"/>
              <a:t>    branch predictor. Decode runs the control unit, generates the</a:t>
            </a:r>
          </a:p>
          <a:p>
            <a:r>
              <a:rPr lang="en-US" dirty="0"/>
              <a:t>    immediate and reads the register file. Execute has the ALU, the branch</a:t>
            </a:r>
          </a:p>
          <a:p>
            <a:r>
              <a:rPr lang="en-US" dirty="0"/>
              <a:t>    comparator and the CSR file. Memory is the data memory. Write-back</a:t>
            </a:r>
          </a:p>
          <a:p>
            <a:r>
              <a:rPr lang="en-US" dirty="0"/>
              <a:t>    extends the load, picks the result and writes the register file.</a:t>
            </a:r>
          </a:p>
          <a:p>
            <a:endParaRPr lang="en-US" dirty="0"/>
          </a:p>
          <a:p>
            <a:r>
              <a:rPr lang="en-US" dirty="0"/>
              <a:t>    [RIGHT] Between every pair of stages is an explicit pipeline register,</a:t>
            </a:r>
          </a:p>
          <a:p>
            <a:r>
              <a:rPr lang="en-US" dirty="0"/>
              <a:t>    each with a stall input and a flush input. That matters, because it</a:t>
            </a:r>
          </a:p>
          <a:p>
            <a:r>
              <a:rPr lang="en-US" dirty="0"/>
              <a:t>    means the hazard logic plugs in without modifying the </a:t>
            </a:r>
            <a:r>
              <a:rPr lang="en-US" dirty="0" err="1"/>
              <a:t>datapath</a:t>
            </a:r>
            <a:r>
              <a:rPr lang="en-US" dirty="0"/>
              <a:t> at all.</a:t>
            </a:r>
          </a:p>
          <a:p>
            <a:endParaRPr lang="en-US" dirty="0"/>
          </a:p>
          <a:p>
            <a:r>
              <a:rPr lang="en-US" dirty="0"/>
              <a:t>    [RIGHT] Two forwarding paths, both landing back in Execute. One from</a:t>
            </a:r>
          </a:p>
          <a:p>
            <a:r>
              <a:rPr lang="en-US" dirty="0"/>
              <a:t>    the Execute-Memory boundary, one instruction ahead. One from Memory-</a:t>
            </a:r>
          </a:p>
          <a:p>
            <a:r>
              <a:rPr lang="en-US" dirty="0"/>
              <a:t>    Writeback, two ahead, and that's the path that carries load data. When</a:t>
            </a:r>
          </a:p>
          <a:p>
            <a:r>
              <a:rPr lang="en-US" dirty="0"/>
              <a:t>    both match, the first wins — [name] will explain why.</a:t>
            </a:r>
          </a:p>
          <a:p>
            <a:endParaRPr lang="en-US" dirty="0"/>
          </a:p>
          <a:p>
            <a:r>
              <a:rPr lang="en-US" dirty="0"/>
              <a:t>    [RIGHT] And the redirects. A </a:t>
            </a:r>
            <a:r>
              <a:rPr lang="en-US" dirty="0" err="1"/>
              <a:t>jal</a:t>
            </a:r>
            <a:r>
              <a:rPr lang="en-US" dirty="0"/>
              <a:t> resolves in decode and costs one</a:t>
            </a:r>
          </a:p>
          <a:p>
            <a:r>
              <a:rPr lang="en-US" dirty="0"/>
              <a:t>    bubble. Branches, </a:t>
            </a:r>
            <a:r>
              <a:rPr lang="en-US" dirty="0" err="1"/>
              <a:t>jalr</a:t>
            </a:r>
            <a:r>
              <a:rPr lang="en-US" dirty="0"/>
              <a:t>, traps and </a:t>
            </a:r>
            <a:r>
              <a:rPr lang="en-US" dirty="0" err="1"/>
              <a:t>mret</a:t>
            </a:r>
            <a:r>
              <a:rPr lang="en-US" dirty="0"/>
              <a:t> resolve in execute and cost</a:t>
            </a:r>
          </a:p>
          <a:p>
            <a:r>
              <a:rPr lang="en-US" dirty="0"/>
              <a:t>    two. The dashed violet line is the load-use interlock.</a:t>
            </a:r>
          </a:p>
          <a:p>
            <a:endParaRPr lang="en-US" dirty="0"/>
          </a:p>
          <a:p>
            <a:r>
              <a:rPr lang="en-US" dirty="0"/>
              <a:t>    Memory is Harvard — separate four-kilobyte instruction and data arrays</a:t>
            </a:r>
          </a:p>
          <a:p>
            <a:r>
              <a:rPr lang="en-US" dirty="0"/>
              <a:t>    — so fetch and memory access never contend.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6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444053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Briefly, the evidence that this plan is achievable, because it's</a:t>
            </a:r>
          </a:p>
          <a:p>
            <a:r>
              <a:rPr lang="en-US" dirty="0"/>
              <a:t>    already been done once.</a:t>
            </a:r>
          </a:p>
          <a:p>
            <a:endParaRPr lang="en-US" dirty="0"/>
          </a:p>
          <a:p>
            <a:r>
              <a:rPr lang="en-US" dirty="0"/>
              <a:t>    Design documented. Nineteen Verilog modules running all forty-six</a:t>
            </a:r>
          </a:p>
          <a:p>
            <a:r>
              <a:rPr lang="en-US" dirty="0"/>
              <a:t>    encodings. Both bonuses working. Every test suite green at all four</a:t>
            </a:r>
          </a:p>
          <a:p>
            <a:r>
              <a:rPr lang="en-US" dirty="0"/>
              <a:t>    build configurations. Placed and routed, with setup timing met at</a:t>
            </a:r>
          </a:p>
          <a:p>
            <a:r>
              <a:rPr lang="en-US" dirty="0"/>
              <a:t>    seventy-four megahertz on the target part.</a:t>
            </a:r>
          </a:p>
          <a:p>
            <a:endParaRPr lang="en-US" dirty="0"/>
          </a:p>
          <a:p>
            <a:r>
              <a:rPr lang="en-US" dirty="0"/>
              <a:t>    The specification came first and the implementation followed it. That</a:t>
            </a:r>
          </a:p>
          <a:p>
            <a:r>
              <a:rPr lang="en-US" dirty="0"/>
              <a:t>    order is why the schedule on the next slide is credible rather than</a:t>
            </a:r>
          </a:p>
          <a:p>
            <a:r>
              <a:rPr lang="en-US" dirty="0"/>
              <a:t>    optimistic.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79240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deliverables, each with exactly one owner and a state.</a:t>
            </a:r>
          </a:p>
          <a:p>
            <a:endParaRPr lang="en-US" dirty="0"/>
          </a:p>
          <a:p>
            <a:r>
              <a:rPr lang="en-US" dirty="0"/>
              <a:t>    The design document, the RTL, the assembler and reference model, and</a:t>
            </a:r>
          </a:p>
          <a:p>
            <a:r>
              <a:rPr lang="en-US" dirty="0"/>
              <a:t>    the test suite are complete. Performance measurements are preliminary.</a:t>
            </a:r>
          </a:p>
          <a:p>
            <a:r>
              <a:rPr lang="en-US" dirty="0"/>
              <a:t>    The synthesis report has one run left. The demo lands on the</a:t>
            </a:r>
          </a:p>
          <a:p>
            <a:r>
              <a:rPr lang="en-US" dirty="0"/>
              <a:t>    sixteenth.</a:t>
            </a:r>
          </a:p>
          <a:p>
            <a:endParaRPr lang="en-US" dirty="0"/>
          </a:p>
          <a:p>
            <a:r>
              <a:rPr lang="en-US" dirty="0"/>
              <a:t>    Milestones on the right. Timing work on the eleventh and twelfth, with</a:t>
            </a:r>
          </a:p>
          <a:p>
            <a:r>
              <a:rPr lang="en-US" dirty="0"/>
              <a:t>    a full regression after each change. Final synthesis on the thirteenth</a:t>
            </a:r>
          </a:p>
          <a:p>
            <a:r>
              <a:rPr lang="en-US" dirty="0"/>
              <a:t>    and fourteenth. Feature freeze on the fifteenth — bugfix and</a:t>
            </a:r>
          </a:p>
          <a:p>
            <a:r>
              <a:rPr lang="en-US" dirty="0"/>
              <a:t>    measurement only after that. Rehearsal on the sixteenth. Demo on the</a:t>
            </a:r>
          </a:p>
          <a:p>
            <a:r>
              <a:rPr lang="en-US" dirty="0"/>
              <a:t>    seventeenth.</a:t>
            </a:r>
          </a:p>
          <a:p>
            <a:endParaRPr lang="en-US" dirty="0"/>
          </a:p>
          <a:p>
            <a:r>
              <a:rPr lang="en-US" dirty="0"/>
              <a:t>    Then three risks, each with what we actually do about it. If the</a:t>
            </a:r>
          </a:p>
          <a:p>
            <a:r>
              <a:rPr lang="en-US" dirty="0"/>
              <a:t>    timing work doesn't close cleanly by the fourteenth, we freeze on the</a:t>
            </a:r>
          </a:p>
          <a:p>
            <a:r>
              <a:rPr lang="en-US" dirty="0"/>
              <a:t>    seventy-four megahertz build that's already verified, rather than ship</a:t>
            </a:r>
          </a:p>
          <a:p>
            <a:r>
              <a:rPr lang="en-US" dirty="0"/>
              <a:t>    something faster we haven't tested. One of those timing changes moves</a:t>
            </a:r>
          </a:p>
          <a:p>
            <a:r>
              <a:rPr lang="en-US" dirty="0"/>
              <a:t>    when a load result becomes available, so it can shift our cycle counts</a:t>
            </a:r>
          </a:p>
          <a:p>
            <a:r>
              <a:rPr lang="en-US" dirty="0"/>
              <a:t>    — which is why every performance figure gets re-measured after the</a:t>
            </a:r>
          </a:p>
          <a:p>
            <a:r>
              <a:rPr lang="en-US" dirty="0"/>
              <a:t>    freeze, not before. And if the instructor requires the older </a:t>
            </a:r>
            <a:r>
              <a:rPr lang="en-US" dirty="0" err="1"/>
              <a:t>Vivado</a:t>
            </a:r>
            <a:r>
              <a:rPr lang="en-US" dirty="0"/>
              <a:t>,</a:t>
            </a:r>
          </a:p>
          <a:p>
            <a:r>
              <a:rPr lang="en-US" dirty="0"/>
              <a:t>    the RTL is plain Verilog-2001 with no vendor IP, and we commit a</a:t>
            </a:r>
          </a:p>
          <a:p>
            <a:r>
              <a:rPr lang="en-US" dirty="0"/>
              <a:t>    project-generation script rather than a version-locked project file.</a:t>
            </a:r>
          </a:p>
          <a:p>
            <a:endParaRPr lang="en-US" dirty="0"/>
          </a:p>
          <a:p>
            <a:r>
              <a:rPr lang="en-US" dirty="0"/>
              <a:t>    [RIGHT] Every deliverable has exactly one owner, and cross-review is</a:t>
            </a:r>
          </a:p>
          <a:p>
            <a:r>
              <a:rPr lang="en-US" dirty="0"/>
              <a:t>    by reading each other's work rather than silent edits.</a:t>
            </a:r>
          </a:p>
          <a:p>
            <a:endParaRPr lang="en-US" dirty="0"/>
          </a:p>
          <a:p>
            <a:r>
              <a:rPr lang="en-US" dirty="0"/>
              <a:t>    [Name] will take you through the implementation.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024277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   Thanks. I own all the RTL, and also the toolchain — and the toolchain</a:t>
            </a:r>
          </a:p>
          <a:p>
            <a:r>
              <a:rPr lang="en-US" dirty="0"/>
              <a:t>    is the part that's less obvious, so let me start there.</a:t>
            </a:r>
          </a:p>
          <a:p>
            <a:endParaRPr lang="en-US" dirty="0"/>
          </a:p>
          <a:p>
            <a:r>
              <a:rPr lang="en-US" dirty="0"/>
              <a:t>    The brief names Mars as the simulator. Mars executes MIPS. We're</a:t>
            </a:r>
          </a:p>
          <a:p>
            <a:r>
              <a:rPr lang="en-US" dirty="0"/>
              <a:t>    building a RISC-V machine, so Mars cannot assemble our programs and</a:t>
            </a:r>
          </a:p>
          <a:p>
            <a:r>
              <a:rPr lang="en-US" dirty="0"/>
              <a:t>    cannot tell us whether our CPU is right. There was no reference to</a:t>
            </a:r>
          </a:p>
          <a:p>
            <a:r>
              <a:rPr lang="en-US" dirty="0"/>
              <a:t>    check against, so I wrote one.</a:t>
            </a:r>
          </a:p>
          <a:p>
            <a:endParaRPr lang="en-US" dirty="0"/>
          </a:p>
          <a:p>
            <a:r>
              <a:rPr lang="en-US" dirty="0"/>
              <a:t>    An assembler, about eight hundred and sixty lines, two passes, all six</a:t>
            </a:r>
          </a:p>
          <a:p>
            <a:r>
              <a:rPr lang="en-US" dirty="0"/>
              <a:t>    instruction formats. And a reference model — an instruction set</a:t>
            </a:r>
          </a:p>
          <a:p>
            <a:r>
              <a:rPr lang="en-US" dirty="0"/>
              <a:t>    simulator in Python, about five hundred and ninety lines, which runs</a:t>
            </a:r>
          </a:p>
          <a:p>
            <a:r>
              <a:rPr lang="en-US" dirty="0"/>
              <a:t>    the same program and prints what every instruction committed.</a:t>
            </a:r>
          </a:p>
          <a:p>
            <a:endParaRPr lang="en-US" dirty="0"/>
          </a:p>
          <a:p>
            <a:r>
              <a:rPr lang="en-US" dirty="0"/>
              <a:t>    Those two were cross-validated against each other BEFORE any Verilog</a:t>
            </a:r>
          </a:p>
          <a:p>
            <a:r>
              <a:rPr lang="en-US" dirty="0"/>
              <a:t>    existed. So by the time the RTL needed checking, the oracle was</a:t>
            </a:r>
          </a:p>
          <a:p>
            <a:r>
              <a:rPr lang="en-US" dirty="0"/>
              <a:t>    already trustworthy.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9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18680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hazards. An instruction reads its registers in decode, but the</a:t>
            </a:r>
          </a:p>
          <a:p>
            <a:r>
              <a:rPr lang="en-US" dirty="0"/>
              <a:t>    instructions ahead of it haven't written back yet.</a:t>
            </a:r>
          </a:p>
          <a:p>
            <a:endParaRPr lang="en-US" dirty="0"/>
          </a:p>
          <a:p>
            <a:r>
              <a:rPr lang="en-US" dirty="0"/>
              <a:t>    [STEP 1] Distance one: the producer is in memory. Its result already</a:t>
            </a:r>
          </a:p>
          <a:p>
            <a:r>
              <a:rPr lang="en-US" dirty="0"/>
              <a:t>    exists at the Execute-Memory boundary, so we forward it straight into</a:t>
            </a:r>
          </a:p>
          <a:p>
            <a:r>
              <a:rPr lang="en-US" dirty="0"/>
              <a:t>    the ALU input.</a:t>
            </a:r>
          </a:p>
          <a:p>
            <a:endParaRPr lang="en-US" dirty="0"/>
          </a:p>
          <a:p>
            <a:r>
              <a:rPr lang="en-US" dirty="0"/>
              <a:t>    [RIGHT] Distance two: the producer is in write-back. That's the</a:t>
            </a:r>
          </a:p>
          <a:p>
            <a:r>
              <a:rPr lang="en-US" dirty="0"/>
              <a:t>    Memory-Writeback path, and it's also the path that carries load data,</a:t>
            </a:r>
          </a:p>
          <a:p>
            <a:r>
              <a:rPr lang="en-US" dirty="0"/>
              <a:t>    which matters in a minute.</a:t>
            </a:r>
          </a:p>
          <a:p>
            <a:endParaRPr lang="en-US" dirty="0"/>
          </a:p>
          <a:p>
            <a:r>
              <a:rPr lang="en-US" dirty="0"/>
              <a:t>    There's a third distance handled inside the register file — a write-</a:t>
            </a:r>
          </a:p>
          <a:p>
            <a:r>
              <a:rPr lang="en-US" dirty="0"/>
              <a:t>    to-read internal bypass, so if write-back is writing the register</a:t>
            </a:r>
          </a:p>
          <a:p>
            <a:r>
              <a:rPr lang="en-US" dirty="0"/>
              <a:t>    decode is reading in the same cycle, decode sees the new value.</a:t>
            </a:r>
          </a:p>
          <a:p>
            <a:endParaRPr lang="en-US" dirty="0"/>
          </a:p>
          <a:p>
            <a:r>
              <a:rPr lang="en-US" dirty="0"/>
              <a:t>    [RIGHT] And the rule that catches people out. When both older</a:t>
            </a:r>
          </a:p>
          <a:p>
            <a:r>
              <a:rPr lang="en-US" dirty="0"/>
              <a:t>    instructions write the same register, Execute-Memory wins, because</a:t>
            </a:r>
          </a:p>
          <a:p>
            <a:r>
              <a:rPr lang="en-US" dirty="0"/>
              <a:t>    it's the newer writer. Check Memory-Writeback first and you resurrect</a:t>
            </a:r>
          </a:p>
          <a:p>
            <a:r>
              <a:rPr lang="en-US" dirty="0"/>
              <a:t>    a stale value. Our hazard test does exactly that: set x5 to a hundred,</a:t>
            </a:r>
          </a:p>
          <a:p>
            <a:r>
              <a:rPr lang="en-US" dirty="0"/>
              <a:t>    add one, then read it. It must see a hundred and one while a hundred</a:t>
            </a:r>
          </a:p>
          <a:p>
            <a:r>
              <a:rPr lang="en-US" dirty="0"/>
              <a:t>    is still sitting in the older register.</a:t>
            </a:r>
          </a:p>
          <a:p>
            <a:endParaRPr lang="en-US" dirty="0"/>
          </a:p>
          <a:p>
            <a:r>
              <a:rPr lang="en-US" dirty="0"/>
              <a:t>    One more: we never forward from x0. A producer whose destination is x0</a:t>
            </a:r>
          </a:p>
          <a:p>
            <a:r>
              <a:rPr lang="en-US" dirty="0"/>
              <a:t>    wrote nothing, so forwarding it would make x0 read non-zero for one</a:t>
            </a:r>
          </a:p>
          <a:p>
            <a:r>
              <a:rPr lang="en-US" dirty="0"/>
              <a:t>    instruction.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10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456727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hazards forwarding cannot fix.</a:t>
            </a:r>
          </a:p>
          <a:p>
            <a:endParaRPr lang="en-US" dirty="0"/>
          </a:p>
          <a:p>
            <a:r>
              <a:rPr lang="en-US" dirty="0"/>
              <a:t>    [STEP 1] A load. Its data doesn't exist until the end of the memory</a:t>
            </a:r>
          </a:p>
          <a:p>
            <a:r>
              <a:rPr lang="en-US" dirty="0"/>
              <a:t>    stage, so an instruction one slot behind it can't be served by any</a:t>
            </a:r>
          </a:p>
          <a:p>
            <a:r>
              <a:rPr lang="en-US" dirty="0"/>
              <a:t>    bypass. It waits one cycle. The violet cells are held — the program</a:t>
            </a:r>
          </a:p>
          <a:p>
            <a:r>
              <a:rPr lang="en-US" dirty="0"/>
              <a:t>    counter and the fetch register freeze, and a bubble goes into execute.</a:t>
            </a:r>
          </a:p>
          <a:p>
            <a:r>
              <a:rPr lang="en-US" dirty="0"/>
              <a:t>    One cycle is always enough, because by then the load is in write-back</a:t>
            </a:r>
          </a:p>
          <a:p>
            <a:r>
              <a:rPr lang="en-US" dirty="0"/>
              <a:t>    and the second forwarding path works.</a:t>
            </a:r>
          </a:p>
          <a:p>
            <a:endParaRPr lang="en-US" dirty="0"/>
          </a:p>
          <a:p>
            <a:r>
              <a:rPr lang="en-US" dirty="0"/>
              <a:t>    [RIGHT] Control hazards. A conditional branch resolves in execute, so</a:t>
            </a:r>
          </a:p>
          <a:p>
            <a:r>
              <a:rPr lang="en-US" dirty="0"/>
              <a:t>    by the time we know it's taken, two instructions behind it have</a:t>
            </a:r>
          </a:p>
          <a:p>
            <a:r>
              <a:rPr lang="en-US" dirty="0"/>
              <a:t>    already been fetched. Both are killed. They never write a register,</a:t>
            </a:r>
          </a:p>
          <a:p>
            <a:r>
              <a:rPr lang="en-US" dirty="0"/>
              <a:t>    never write memory, and never count as retired.</a:t>
            </a:r>
          </a:p>
          <a:p>
            <a:endParaRPr lang="en-US" dirty="0"/>
          </a:p>
          <a:p>
            <a:r>
              <a:rPr lang="en-US" dirty="0"/>
              <a:t>    [RIGHT] Costs on the strip: one cycle for a load-use, one bubble for</a:t>
            </a:r>
          </a:p>
          <a:p>
            <a:r>
              <a:rPr lang="en-US" dirty="0"/>
              <a:t>    </a:t>
            </a:r>
            <a:r>
              <a:rPr lang="en-US" dirty="0" err="1"/>
              <a:t>jal</a:t>
            </a:r>
            <a:r>
              <a:rPr lang="en-US" dirty="0"/>
              <a:t>, two for a taken branch or a </a:t>
            </a:r>
            <a:r>
              <a:rPr lang="en-US" dirty="0" err="1"/>
              <a:t>jalr</a:t>
            </a:r>
            <a:r>
              <a:rPr lang="en-US" dirty="0"/>
              <a:t>, two for a trap or an </a:t>
            </a:r>
            <a:r>
              <a:rPr lang="en-US" dirty="0" err="1"/>
              <a:t>mret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   And one rule that's easy to get wrong: a redirect always overrides a</a:t>
            </a:r>
          </a:p>
          <a:p>
            <a:r>
              <a:rPr lang="en-US" dirty="0"/>
              <a:t>    stall. The instruction that raised the stall is being killed anyway,</a:t>
            </a:r>
          </a:p>
          <a:p>
            <a:r>
              <a:rPr lang="en-US" dirty="0"/>
              <a:t>    so waiting for it would deadlock the redirect.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11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13623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bonus. Sixty-four entries of two-bit saturating counters,</a:t>
            </a:r>
          </a:p>
          <a:p>
            <a:r>
              <a:rPr lang="en-US" dirty="0"/>
              <a:t>    indexed by bits two to seven of the PC.</a:t>
            </a:r>
          </a:p>
          <a:p>
            <a:endParaRPr lang="en-US" dirty="0"/>
          </a:p>
          <a:p>
            <a:r>
              <a:rPr lang="en-US" dirty="0"/>
              <a:t>    The state machine is standard. Taken moves right, not-taken moves</a:t>
            </a:r>
          </a:p>
          <a:p>
            <a:r>
              <a:rPr lang="en-US" dirty="0"/>
              <a:t>    left, both ends saturate, and the prediction is just the top bit. We</a:t>
            </a:r>
          </a:p>
          <a:p>
            <a:r>
              <a:rPr lang="en-US" dirty="0"/>
              <a:t>    reset to weakly-not-taken, so a branch we've never seen behaves</a:t>
            </a:r>
          </a:p>
          <a:p>
            <a:r>
              <a:rPr lang="en-US" dirty="0"/>
              <a:t>    exactly like the machine with no predictor.</a:t>
            </a:r>
          </a:p>
          <a:p>
            <a:endParaRPr lang="en-US" dirty="0"/>
          </a:p>
          <a:p>
            <a:r>
              <a:rPr lang="en-US" dirty="0"/>
              <a:t>    [RIGHT] Now the honest part — the cost table.</a:t>
            </a:r>
          </a:p>
          <a:p>
            <a:endParaRPr lang="en-US" dirty="0"/>
          </a:p>
          <a:p>
            <a:r>
              <a:rPr lang="en-US" dirty="0"/>
              <a:t>    Predict not-taken and it isn't taken: zero bubbles, because the fall-</a:t>
            </a:r>
          </a:p>
          <a:p>
            <a:r>
              <a:rPr lang="en-US" dirty="0"/>
              <a:t>    through was already being fetched. Predict taken and it is taken: ONE</a:t>
            </a:r>
          </a:p>
          <a:p>
            <a:r>
              <a:rPr lang="en-US" dirty="0"/>
              <a:t>    bubble, not zero. A </a:t>
            </a:r>
            <a:r>
              <a:rPr lang="en-US" dirty="0" err="1"/>
              <a:t>mispredict</a:t>
            </a:r>
            <a:r>
              <a:rPr lang="en-US" dirty="0"/>
              <a:t> in either direction: two.</a:t>
            </a:r>
          </a:p>
          <a:p>
            <a:endParaRPr lang="en-US" dirty="0"/>
          </a:p>
          <a:p>
            <a:r>
              <a:rPr lang="en-US" dirty="0"/>
              <a:t>    That one-bubble cost is real and we don't hide it. There's no branch</a:t>
            </a:r>
          </a:p>
          <a:p>
            <a:r>
              <a:rPr lang="en-US" dirty="0"/>
              <a:t>    target buffer, because the target is just PC plus the branch immediate</a:t>
            </a:r>
          </a:p>
          <a:p>
            <a:r>
              <a:rPr lang="en-US" dirty="0"/>
              <a:t>    and decode already computes it. Dropping the target buffer saves a</a:t>
            </a:r>
          </a:p>
          <a:p>
            <a:r>
              <a:rPr lang="en-US" dirty="0"/>
              <a:t>    tagged memory and costs one cycle on a correct prediction.</a:t>
            </a:r>
          </a:p>
          <a:p>
            <a:endParaRPr lang="en-US" dirty="0"/>
          </a:p>
          <a:p>
            <a:r>
              <a:rPr lang="en-US" dirty="0"/>
              <a:t>    [RIGHT] So: looked up in fetch, carried through the pipeline register,</a:t>
            </a:r>
          </a:p>
          <a:p>
            <a:r>
              <a:rPr lang="en-US" dirty="0"/>
              <a:t>    acted on in decode, resolved and updated in execute.</a:t>
            </a:r>
          </a:p>
          <a:p>
            <a:endParaRPr lang="en-US" dirty="0"/>
          </a:p>
          <a:p>
            <a:r>
              <a:rPr lang="en-US" dirty="0"/>
              <a:t>    Which means this predictor can only win on branches that are actually</a:t>
            </a:r>
          </a:p>
          <a:p>
            <a:r>
              <a:rPr lang="en-US" dirty="0"/>
              <a:t>    taken. A correctly predicted not-taken branch already cost nothing.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12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471607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bonus. Machine-mode interrupts with the minimum CSR set:</a:t>
            </a:r>
          </a:p>
          <a:p>
            <a:r>
              <a:rPr lang="en-US" dirty="0"/>
              <a:t>    </a:t>
            </a:r>
            <a:r>
              <a:rPr lang="en-US" dirty="0" err="1"/>
              <a:t>mstatus</a:t>
            </a:r>
            <a:r>
              <a:rPr lang="en-US" dirty="0"/>
              <a:t>, mie, </a:t>
            </a:r>
            <a:r>
              <a:rPr lang="en-US" dirty="0" err="1"/>
              <a:t>mtvec</a:t>
            </a:r>
            <a:r>
              <a:rPr lang="en-US" dirty="0"/>
              <a:t>, </a:t>
            </a:r>
            <a:r>
              <a:rPr lang="en-US" dirty="0" err="1"/>
              <a:t>mepc</a:t>
            </a:r>
            <a:r>
              <a:rPr lang="en-US" dirty="0"/>
              <a:t> and </a:t>
            </a:r>
            <a:r>
              <a:rPr lang="en-US" dirty="0" err="1"/>
              <a:t>mcause</a:t>
            </a:r>
            <a:r>
              <a:rPr lang="en-US" dirty="0"/>
              <a:t>, the six CSR instructions, and</a:t>
            </a:r>
          </a:p>
          <a:p>
            <a:r>
              <a:rPr lang="en-US" dirty="0"/>
              <a:t>    </a:t>
            </a:r>
            <a:r>
              <a:rPr lang="en-US" dirty="0" err="1"/>
              <a:t>mret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   [STEP 1] The trap is taken in execute, and this timeline shows why</a:t>
            </a:r>
          </a:p>
          <a:p>
            <a:r>
              <a:rPr lang="en-US" dirty="0"/>
              <a:t>    that matters. The instruction in execute when the interrupt arrives is</a:t>
            </a:r>
          </a:p>
          <a:p>
            <a:r>
              <a:rPr lang="en-US" dirty="0"/>
              <a:t>    SQUASHED — it never retires and never appears in the commit trace. The</a:t>
            </a:r>
          </a:p>
          <a:p>
            <a:r>
              <a:rPr lang="en-US" dirty="0"/>
              <a:t>    two behind it are killed. The two ahead are already past execute, so</a:t>
            </a:r>
          </a:p>
          <a:p>
            <a:r>
              <a:rPr lang="en-US" dirty="0"/>
              <a:t>    they do retire.</a:t>
            </a:r>
          </a:p>
          <a:p>
            <a:endParaRPr lang="en-US" dirty="0"/>
          </a:p>
          <a:p>
            <a:r>
              <a:rPr lang="en-US" dirty="0"/>
              <a:t>    [RIGHT] At that point </a:t>
            </a:r>
            <a:r>
              <a:rPr lang="en-US" dirty="0" err="1"/>
              <a:t>mepc</a:t>
            </a:r>
            <a:r>
              <a:rPr lang="en-US" dirty="0"/>
              <a:t> gets the PC of the squashed instruction,</a:t>
            </a:r>
          </a:p>
          <a:p>
            <a:r>
              <a:rPr lang="en-US" dirty="0"/>
              <a:t>    </a:t>
            </a:r>
            <a:r>
              <a:rPr lang="en-US" dirty="0" err="1"/>
              <a:t>mcause</a:t>
            </a:r>
            <a:r>
              <a:rPr lang="en-US" dirty="0"/>
              <a:t> gets the external interrupt code, the enable bit is saved into</a:t>
            </a:r>
          </a:p>
          <a:p>
            <a:r>
              <a:rPr lang="en-US" dirty="0"/>
              <a:t>    MPIE and cleared, and the PC goes to </a:t>
            </a:r>
            <a:r>
              <a:rPr lang="en-US" dirty="0" err="1"/>
              <a:t>mtvec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    [RIGHT] Now the detail I'd most like you to take away, because it's</a:t>
            </a:r>
          </a:p>
          <a:p>
            <a:r>
              <a:rPr lang="en-US" dirty="0"/>
              <a:t>    the classic trap-handling bug.</a:t>
            </a:r>
          </a:p>
          <a:p>
            <a:endParaRPr lang="en-US" dirty="0"/>
          </a:p>
          <a:p>
            <a:r>
              <a:rPr lang="en-US" dirty="0"/>
              <a:t>    On an </a:t>
            </a:r>
            <a:r>
              <a:rPr lang="en-US" dirty="0" err="1"/>
              <a:t>ecall</a:t>
            </a:r>
            <a:r>
              <a:rPr lang="en-US" dirty="0"/>
              <a:t>, </a:t>
            </a:r>
            <a:r>
              <a:rPr lang="en-US" dirty="0" err="1"/>
              <a:t>mepc</a:t>
            </a:r>
            <a:r>
              <a:rPr lang="en-US" dirty="0"/>
              <a:t> points AT the </a:t>
            </a:r>
            <a:r>
              <a:rPr lang="en-US" dirty="0" err="1"/>
              <a:t>ecall</a:t>
            </a:r>
            <a:r>
              <a:rPr lang="en-US" dirty="0"/>
              <a:t>, which hasn't completed. The</a:t>
            </a:r>
          </a:p>
          <a:p>
            <a:r>
              <a:rPr lang="en-US" dirty="0"/>
              <a:t>    handler MUST add four before returning, or it re-executes forever.</a:t>
            </a:r>
          </a:p>
          <a:p>
            <a:endParaRPr lang="en-US" dirty="0"/>
          </a:p>
          <a:p>
            <a:r>
              <a:rPr lang="en-US" dirty="0"/>
              <a:t>    On an interrupt, </a:t>
            </a:r>
            <a:r>
              <a:rPr lang="en-US" dirty="0" err="1"/>
              <a:t>mepc</a:t>
            </a:r>
            <a:r>
              <a:rPr lang="en-US" dirty="0"/>
              <a:t> points at an instruction that NEVER EXECUTED.</a:t>
            </a:r>
          </a:p>
          <a:p>
            <a:r>
              <a:rPr lang="en-US" dirty="0"/>
              <a:t>    The handler must NOT add four — </a:t>
            </a:r>
            <a:r>
              <a:rPr lang="en-US" dirty="0" err="1"/>
              <a:t>mret</a:t>
            </a:r>
            <a:r>
              <a:rPr lang="en-US" dirty="0"/>
              <a:t> re-runs it. Same register,</a:t>
            </a:r>
          </a:p>
          <a:p>
            <a:r>
              <a:rPr lang="en-US" dirty="0"/>
              <a:t>    opposite rule.</a:t>
            </a:r>
          </a:p>
          <a:p>
            <a:r>
              <a:rPr lang="en-US" dirty="0"/>
              <a:t>Last thing: the interrupt input is a level, not a pulse, and it's</a:t>
            </a:r>
          </a:p>
          <a:p>
            <a:r>
              <a:rPr lang="en-US" dirty="0"/>
              <a:t>    qualified by the enable bits. So a request arriving while the handler</a:t>
            </a:r>
          </a:p>
          <a:p>
            <a:r>
              <a:rPr lang="en-US" dirty="0"/>
              <a:t>    runs isn't lost. It's taken as soon as </a:t>
            </a:r>
            <a:r>
              <a:rPr lang="en-US" dirty="0" err="1"/>
              <a:t>mret</a:t>
            </a:r>
            <a:r>
              <a:rPr lang="en-US" dirty="0"/>
              <a:t> restores the enable.</a:t>
            </a:r>
          </a:p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13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28485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Synthesis, on an Artix-7, placed and routed.</a:t>
            </a:r>
          </a:p>
          <a:p>
            <a:endParaRPr lang="en-US" dirty="0"/>
          </a:p>
          <a:p>
            <a:r>
              <a:rPr lang="en-US" dirty="0"/>
              <a:t>    Fourteen hundred and sixty-one LUTs, eight hundred and nineteen flip-</a:t>
            </a:r>
          </a:p>
          <a:p>
            <a:r>
              <a:rPr lang="en-US" dirty="0"/>
              <a:t>    flops, two block RAMs. About seven percent of the device.</a:t>
            </a:r>
          </a:p>
          <a:p>
            <a:endParaRPr lang="en-US" dirty="0"/>
          </a:p>
          <a:p>
            <a:r>
              <a:rPr lang="en-US" dirty="0"/>
              <a:t>    [RIGHT] The sweep. At ten nanoseconds we're three short. At twelve and</a:t>
            </a:r>
          </a:p>
          <a:p>
            <a:r>
              <a:rPr lang="en-US" dirty="0"/>
              <a:t>    a half still slightly short. At thirteen and a half we close, with</a:t>
            </a:r>
          </a:p>
          <a:p>
            <a:r>
              <a:rPr lang="en-US" dirty="0"/>
              <a:t>    positive slack and zero failing endpoints. Seventy-four megahertz. The</a:t>
            </a:r>
          </a:p>
          <a:p>
            <a:r>
              <a:rPr lang="en-US" dirty="0"/>
              <a:t>    figure is consistent across all three points to about one percent,</a:t>
            </a:r>
          </a:p>
          <a:p>
            <a:r>
              <a:rPr lang="en-US" dirty="0"/>
              <a:t>    which is the useful check — it's a property of the design, not of the</a:t>
            </a:r>
          </a:p>
          <a:p>
            <a:r>
              <a:rPr lang="en-US" dirty="0"/>
              <a:t>    constraint we asked for.</a:t>
            </a:r>
          </a:p>
          <a:p>
            <a:endParaRPr lang="en-US" dirty="0"/>
          </a:p>
          <a:p>
            <a:r>
              <a:rPr lang="en-US" dirty="0"/>
              <a:t>    [RIGHT] The critical path is a load feeding a branch. The block RAM</a:t>
            </a:r>
          </a:p>
          <a:p>
            <a:r>
              <a:rPr lang="en-US" dirty="0"/>
              <a:t>    output alone is two and a half nanoseconds. Then lane extension in</a:t>
            </a:r>
          </a:p>
          <a:p>
            <a:r>
              <a:rPr lang="en-US" dirty="0"/>
              <a:t>    write-back, the forwarding mux, the branch comparator, and the</a:t>
            </a:r>
          </a:p>
          <a:p>
            <a:r>
              <a:rPr lang="en-US" dirty="0"/>
              <a:t>    redirect into the program counter's enable.</a:t>
            </a:r>
          </a:p>
          <a:p>
            <a:endParaRPr lang="en-US" dirty="0"/>
          </a:p>
          <a:p>
            <a:r>
              <a:rPr lang="en-US" dirty="0"/>
              <a:t>    Seventy-four megahertz is measured, not estimated, and we know exactly</a:t>
            </a:r>
          </a:p>
          <a:p>
            <a:r>
              <a:rPr lang="en-US" dirty="0"/>
              <a:t>    what limits it. That's what makes the two fixes a scheduled task</a:t>
            </a:r>
          </a:p>
          <a:p>
            <a:r>
              <a:rPr lang="en-US" dirty="0"/>
              <a:t>    rather than a hope.</a:t>
            </a:r>
          </a:p>
          <a:p>
            <a:endParaRPr lang="en-US" dirty="0"/>
          </a:p>
          <a:p>
            <a:r>
              <a:rPr lang="en-US" dirty="0"/>
              <a:t>    [Name] will show you how all of this is verified.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14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103040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Thanks. My job is to prove the thing works, and then to measure it.</a:t>
            </a:r>
          </a:p>
          <a:p>
            <a:endParaRPr lang="en-US" dirty="0"/>
          </a:p>
          <a:p>
            <a:r>
              <a:rPr lang="en-US" dirty="0"/>
              <a:t>    The principle I'd lead with: nothing in this project is judged by</a:t>
            </a:r>
          </a:p>
          <a:p>
            <a:r>
              <a:rPr lang="en-US" dirty="0"/>
              <a:t>    looking at a waveform. Every test states its own verdict — it prints</a:t>
            </a:r>
          </a:p>
          <a:p>
            <a:r>
              <a:rPr lang="en-US" dirty="0"/>
              <a:t>    PASS or FAIL and exits with a code the script checks. And every</a:t>
            </a:r>
          </a:p>
          <a:p>
            <a:r>
              <a:rPr lang="en-US" dirty="0"/>
              <a:t>    expected value comes from the reference model, not from a person</a:t>
            </a:r>
          </a:p>
          <a:p>
            <a:r>
              <a:rPr lang="en-US" dirty="0"/>
              <a:t>    typing what they think the answer should be.</a:t>
            </a:r>
          </a:p>
          <a:p>
            <a:endParaRPr lang="en-US" dirty="0"/>
          </a:p>
          <a:p>
            <a:r>
              <a:rPr lang="en-US" dirty="0"/>
              <a:t>    That second point is the one that matters. If I hand-wrote the golden</a:t>
            </a:r>
          </a:p>
          <a:p>
            <a:r>
              <a:rPr lang="en-US" dirty="0"/>
              <a:t>    values, I'd be checking the RTL against my own understanding of the</a:t>
            </a:r>
          </a:p>
          <a:p>
            <a:r>
              <a:rPr lang="en-US" dirty="0"/>
              <a:t>    spec — which is the same understanding that might be wrong.</a:t>
            </a:r>
          </a:p>
          <a:p>
            <a:endParaRPr lang="en-US" dirty="0"/>
          </a:p>
          <a:p>
            <a:r>
              <a:rPr lang="en-US" dirty="0"/>
              <a:t>    Headline numbers: twenty-six thousand unit-level vectors across eleven</a:t>
            </a:r>
          </a:p>
          <a:p>
            <a:r>
              <a:rPr lang="en-US" dirty="0"/>
              <a:t>    testbenches, sixty-eight assembly programs, and zero differing trace</a:t>
            </a:r>
          </a:p>
          <a:p>
            <a:r>
              <a:rPr lang="en-US" dirty="0"/>
              <a:t>    lines against the reference model.</a:t>
            </a:r>
          </a:p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15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632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tiers.</a:t>
            </a:r>
          </a:p>
          <a:p>
            <a:endParaRPr lang="en-US" dirty="0"/>
          </a:p>
          <a:p>
            <a:r>
              <a:rPr lang="en-US" dirty="0"/>
              <a:t>    [STEP 1] Tier one is the flow. Every simulation goes through the same</a:t>
            </a:r>
          </a:p>
          <a:p>
            <a:r>
              <a:rPr lang="en-US" dirty="0"/>
              <a:t>    three commands in batch mode. No GUI, no waveform viewer, nobody</a:t>
            </a:r>
          </a:p>
          <a:p>
            <a:r>
              <a:rPr lang="en-US" dirty="0"/>
              <a:t>    deciding by eye. A run exits zero only if the log has a PASS line and</a:t>
            </a:r>
          </a:p>
          <a:p>
            <a:r>
              <a:rPr lang="en-US" dirty="0"/>
              <a:t>    no FAIL line, so a regression can't quietly pass by being ignored.</a:t>
            </a:r>
          </a:p>
          <a:p>
            <a:endParaRPr lang="en-US" dirty="0"/>
          </a:p>
          <a:p>
            <a:r>
              <a:rPr lang="en-US" dirty="0"/>
              <a:t>    [RIGHT] Tier two is the self-checking tests. A standalone testbench</a:t>
            </a:r>
          </a:p>
          <a:p>
            <a:r>
              <a:rPr lang="en-US" dirty="0"/>
              <a:t>    for every module that isn't just wiring, plus one assembly program per</a:t>
            </a:r>
          </a:p>
          <a:p>
            <a:r>
              <a:rPr lang="en-US" dirty="0"/>
              <a:t>    instruction with a golden register file. Every vector is generated by</a:t>
            </a:r>
          </a:p>
          <a:p>
            <a:r>
              <a:rPr lang="en-US" dirty="0"/>
              <a:t>    the tools we'd already cross-validated — never by a second hand-</a:t>
            </a:r>
          </a:p>
          <a:p>
            <a:r>
              <a:rPr lang="en-US" dirty="0"/>
              <a:t>    written copy of the logic I'm testing.</a:t>
            </a:r>
          </a:p>
          <a:p>
            <a:endParaRPr lang="en-US" dirty="0"/>
          </a:p>
          <a:p>
            <a:r>
              <a:rPr lang="en-US" dirty="0"/>
              <a:t>    [RIGHT] Tier three is differential testing, and it's the strongest</a:t>
            </a:r>
          </a:p>
          <a:p>
            <a:r>
              <a:rPr lang="en-US" dirty="0"/>
              <a:t>    thing we have. The reference model is an independent implementation of</a:t>
            </a:r>
          </a:p>
          <a:p>
            <a:r>
              <a:rPr lang="en-US" dirty="0"/>
              <a:t>    the same instruction set, written in Python without reference to the</a:t>
            </a:r>
          </a:p>
          <a:p>
            <a:r>
              <a:rPr lang="en-US" dirty="0"/>
              <a:t>    Verilog. Both run the same image. Both print one line per retiring</a:t>
            </a:r>
          </a:p>
          <a:p>
            <a:r>
              <a:rPr lang="en-US" dirty="0"/>
              <a:t>    instruction. Then we diff the files.</a:t>
            </a:r>
          </a:p>
          <a:p>
            <a:endParaRPr lang="en-US" dirty="0"/>
          </a:p>
          <a:p>
            <a:r>
              <a:rPr lang="en-US" dirty="0"/>
              <a:t>    Why that's worth the effort: a final-state check tells you the answer</a:t>
            </a:r>
          </a:p>
          <a:p>
            <a:r>
              <a:rPr lang="en-US" dirty="0"/>
              <a:t>    is wrong. A trace diff tells you WHICH INSTRUCTION went wrong. On a</a:t>
            </a:r>
          </a:p>
          <a:p>
            <a:r>
              <a:rPr lang="en-US" dirty="0"/>
              <a:t>    five-stage pipeline that's the difference between an afternoon and a</a:t>
            </a:r>
          </a:p>
          <a:p>
            <a:r>
              <a:rPr lang="en-US" dirty="0"/>
              <a:t>    week.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16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588053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   The results.</a:t>
            </a:r>
          </a:p>
          <a:p>
            <a:endParaRPr lang="en-US" dirty="0"/>
          </a:p>
          <a:p>
            <a:r>
              <a:rPr lang="en-US" dirty="0"/>
              <a:t>    Twenty-six thousand four hundred unit vectors. Four thousand three</a:t>
            </a:r>
          </a:p>
          <a:p>
            <a:r>
              <a:rPr lang="en-US" dirty="0"/>
              <a:t>    hundred toolchain checks — the assembler against the reference model,</a:t>
            </a:r>
          </a:p>
          <a:p>
            <a:r>
              <a:rPr lang="en-US" dirty="0"/>
              <a:t>    before any RTL is involved. Sixty-eight assembly programs. And all of</a:t>
            </a:r>
          </a:p>
          <a:p>
            <a:r>
              <a:rPr lang="en-US" dirty="0"/>
              <a:t>    it runs at four build configurations: forwarding on and off, predictor</a:t>
            </a:r>
          </a:p>
          <a:p>
            <a:r>
              <a:rPr lang="en-US" dirty="0"/>
              <a:t>    on and off.</a:t>
            </a:r>
          </a:p>
          <a:p>
            <a:endParaRPr lang="en-US" dirty="0"/>
          </a:p>
          <a:p>
            <a:r>
              <a:rPr lang="en-US" dirty="0"/>
              <a:t>    The biggest suites are on the left. The branch unit alone is sixteen</a:t>
            </a:r>
          </a:p>
          <a:p>
            <a:r>
              <a:rPr lang="en-US" dirty="0"/>
              <a:t>    thousand vectors. The control decoder is six hundred and sixty-seven,</a:t>
            </a:r>
          </a:p>
          <a:p>
            <a:r>
              <a:rPr lang="en-US" dirty="0"/>
              <a:t>    including a hundred and twenty deliberately illegal encodings.</a:t>
            </a:r>
          </a:p>
          <a:p>
            <a:endParaRPr lang="en-US" dirty="0"/>
          </a:p>
          <a:p>
            <a:r>
              <a:rPr lang="en-US" dirty="0"/>
              <a:t>    [RIGHT] (point at the screenshot) And that's the regression output</a:t>
            </a:r>
          </a:p>
          <a:p>
            <a:r>
              <a:rPr lang="en-US" dirty="0"/>
              <a:t>    itself, so you can see these came out of a tool rather than a table I</a:t>
            </a:r>
          </a:p>
          <a:p>
            <a:r>
              <a:rPr lang="en-US" dirty="0"/>
              <a:t>    typed.</a:t>
            </a:r>
          </a:p>
          <a:p>
            <a:endParaRPr lang="en-US" dirty="0"/>
          </a:p>
          <a:p>
            <a:r>
              <a:rPr lang="en-US" dirty="0"/>
              <a:t>    This suite is the acceptance criterion from slide two, already</a:t>
            </a:r>
          </a:p>
          <a:p>
            <a:r>
              <a:rPr lang="en-US" dirty="0"/>
              <a:t>    running.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17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457481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Performance. Slide two promised we'd measure this against a baseline</a:t>
            </a:r>
          </a:p>
          <a:p>
            <a:r>
              <a:rPr lang="en-US" dirty="0"/>
              <a:t>    rather than quote it in isolation. This is that measurement.</a:t>
            </a:r>
          </a:p>
          <a:p>
            <a:endParaRPr lang="en-US" dirty="0"/>
          </a:p>
          <a:p>
            <a:r>
              <a:rPr lang="en-US" dirty="0"/>
              <a:t>    [STEP 1] First, forwarding. A compile-time parameter disables the</a:t>
            </a:r>
          </a:p>
          <a:p>
            <a:r>
              <a:rPr lang="en-US" dirty="0"/>
              <a:t>    entire bypass network, and correctness is restored by stalling</a:t>
            </a:r>
          </a:p>
          <a:p>
            <a:r>
              <a:rPr lang="en-US" dirty="0"/>
              <a:t>    instead. Same programs, same predictor setting, one parameter changes.</a:t>
            </a:r>
          </a:p>
          <a:p>
            <a:endParaRPr lang="en-US" dirty="0"/>
          </a:p>
          <a:p>
            <a:r>
              <a:rPr lang="en-US" dirty="0"/>
              <a:t>    The three benchmarks together run in six thousand seven hundred and</a:t>
            </a:r>
          </a:p>
          <a:p>
            <a:r>
              <a:rPr lang="en-US" dirty="0"/>
              <a:t>    ninety-nine cycles with forwarding, and nine thousand and three</a:t>
            </a:r>
          </a:p>
          <a:p>
            <a:r>
              <a:rPr lang="en-US" dirty="0"/>
              <a:t>    without. One point three two times.</a:t>
            </a:r>
          </a:p>
          <a:p>
            <a:endParaRPr lang="en-US" dirty="0"/>
          </a:p>
          <a:p>
            <a:r>
              <a:rPr lang="en-US" dirty="0"/>
              <a:t>    Per program: Fibonacci gains most, one point six five, because its</a:t>
            </a:r>
          </a:p>
          <a:p>
            <a:r>
              <a:rPr lang="en-US" dirty="0"/>
              <a:t>    inner loop is a tight dependent chain — every iteration consumes the</a:t>
            </a:r>
          </a:p>
          <a:p>
            <a:r>
              <a:rPr lang="en-US" dirty="0"/>
              <a:t>    previous result almost immediately. The branch loop gains least, one</a:t>
            </a:r>
          </a:p>
          <a:p>
            <a:r>
              <a:rPr lang="en-US" dirty="0"/>
              <a:t>    point two two, and why is interesting: its load-use stall count is</a:t>
            </a:r>
          </a:p>
          <a:p>
            <a:r>
              <a:rPr lang="en-US" dirty="0"/>
              <a:t>    zero even with forwarding on, because its loop bodies compute</a:t>
            </a:r>
          </a:p>
          <a:p>
            <a:r>
              <a:rPr lang="en-US" dirty="0"/>
              <a:t>    independent things. There was nothing for the bypass network to save.</a:t>
            </a:r>
          </a:p>
          <a:p>
            <a:endParaRPr lang="en-US" dirty="0"/>
          </a:p>
          <a:p>
            <a:r>
              <a:rPr lang="en-US" dirty="0"/>
              <a:t>    The dashed line is CPI of one. Everything above it, with forwarding</a:t>
            </a:r>
          </a:p>
          <a:p>
            <a:r>
              <a:rPr lang="en-US" dirty="0"/>
              <a:t>    on, is control-flow bubbles and load-use stalls. No other source of</a:t>
            </a:r>
          </a:p>
          <a:p>
            <a:r>
              <a:rPr lang="en-US" dirty="0"/>
              <a:t>    delay in this design.</a:t>
            </a:r>
          </a:p>
          <a:p>
            <a:endParaRPr lang="en-US" dirty="0"/>
          </a:p>
          <a:p>
            <a:r>
              <a:rPr lang="en-US" dirty="0"/>
              <a:t>    [RIGHT] Second, the predictor. This is the change in cycle count when</a:t>
            </a:r>
          </a:p>
          <a:p>
            <a:r>
              <a:rPr lang="en-US" dirty="0"/>
              <a:t>    we turn it on. Left is saved, right is cost.</a:t>
            </a:r>
          </a:p>
          <a:p>
            <a:endParaRPr lang="en-US" dirty="0"/>
          </a:p>
          <a:p>
            <a:r>
              <a:rPr lang="en-US" dirty="0"/>
              <a:t>    The prediction demo saves fourteen and a half percent at ninety-five</a:t>
            </a:r>
          </a:p>
          <a:p>
            <a:r>
              <a:rPr lang="en-US" dirty="0"/>
              <a:t>    percent accuracy. Fibonacci saves nearly nine.</a:t>
            </a:r>
          </a:p>
          <a:p>
            <a:endParaRPr lang="en-US" dirty="0"/>
          </a:p>
          <a:p>
            <a:r>
              <a:rPr lang="en-US" dirty="0"/>
              <a:t>    But the branch loop gets ten percent WORSE, and we're showing you that</a:t>
            </a:r>
          </a:p>
          <a:p>
            <a:r>
              <a:rPr lang="en-US" dirty="0"/>
              <a:t>    deliberately. That program was written to defeat a two-bit predictor —</a:t>
            </a:r>
          </a:p>
          <a:p>
            <a:r>
              <a:rPr lang="en-US" dirty="0"/>
              <a:t>    its inner branch tests whether a counter is odd, so it alternates on</a:t>
            </a:r>
          </a:p>
          <a:p>
            <a:r>
              <a:rPr lang="en-US" dirty="0"/>
              <a:t>    every iteration. That's the one pattern a saturating counter cannot</a:t>
            </a:r>
          </a:p>
          <a:p>
            <a:r>
              <a:rPr lang="en-US" dirty="0"/>
              <a:t>    learn. The loss works out to exactly four hundred cycles, and the</a:t>
            </a:r>
          </a:p>
          <a:p>
            <a:r>
              <a:rPr lang="en-US" dirty="0"/>
              <a:t>    measurement is exactly four hundred.</a:t>
            </a:r>
          </a:p>
          <a:p>
            <a:endParaRPr lang="en-US" dirty="0"/>
          </a:p>
          <a:p>
            <a:r>
              <a:rPr lang="en-US" dirty="0"/>
              <a:t>    [RIGHT] So the honest summary: a two-bit table helps loop-dominated</a:t>
            </a:r>
          </a:p>
          <a:p>
            <a:r>
              <a:rPr lang="en-US" dirty="0"/>
              <a:t>    code, does nothing for exit-dominated code, and hurts on alternating</a:t>
            </a:r>
          </a:p>
          <a:p>
            <a:r>
              <a:rPr lang="en-US" dirty="0"/>
              <a:t>    branches. A cheap heuristic, not a guarantee. And correctness never</a:t>
            </a:r>
          </a:p>
          <a:p>
            <a:r>
              <a:rPr lang="en-US" dirty="0"/>
              <a:t>    depends on it — with the predictor off, the machine reproduces the</a:t>
            </a:r>
          </a:p>
          <a:p>
            <a:r>
              <a:rPr lang="en-US" dirty="0"/>
              <a:t>    static cycle counts exactly.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18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9773885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piece of evidence that isn't a number.</a:t>
            </a:r>
          </a:p>
          <a:p>
            <a:endParaRPr lang="en-US" dirty="0"/>
          </a:p>
          <a:p>
            <a:r>
              <a:rPr lang="en-US" dirty="0"/>
              <a:t>    (point at the waveform) This is the load-use case in the simulator.</a:t>
            </a:r>
          </a:p>
          <a:p>
            <a:r>
              <a:rPr lang="en-US" dirty="0"/>
              <a:t>    The stall signal goes high for exactly one cycle, and while it does,</a:t>
            </a:r>
          </a:p>
          <a:p>
            <a:r>
              <a:rPr lang="en-US" dirty="0"/>
              <a:t>    the program counter and the fetch register hold their values. The</a:t>
            </a:r>
          </a:p>
          <a:p>
            <a:r>
              <a:rPr lang="en-US" dirty="0"/>
              <a:t>    cycle after, the forwarding select switches to the Memory-Writeback</a:t>
            </a:r>
          </a:p>
          <a:p>
            <a:r>
              <a:rPr lang="en-US" dirty="0"/>
              <a:t>    path — the bypass delivering the loaded value.</a:t>
            </a:r>
          </a:p>
          <a:p>
            <a:endParaRPr lang="en-US" dirty="0"/>
          </a:p>
          <a:p>
            <a:r>
              <a:rPr lang="en-US" dirty="0"/>
              <a:t>    [RIGHT] Further along, flush on the fetch and decode registers pulsing</a:t>
            </a:r>
          </a:p>
          <a:p>
            <a:r>
              <a:rPr lang="en-US" dirty="0"/>
              <a:t>    together on a taken branch, killing two slots, and the trace-valid</a:t>
            </a:r>
          </a:p>
          <a:p>
            <a:r>
              <a:rPr lang="en-US" dirty="0"/>
              <a:t>    signal never asserting for either.</a:t>
            </a:r>
          </a:p>
          <a:p>
            <a:endParaRPr lang="en-US" dirty="0"/>
          </a:p>
          <a:p>
            <a:r>
              <a:rPr lang="en-US" dirty="0"/>
              <a:t>    I want to be precise about what this slide is. Correctness is decided</a:t>
            </a:r>
          </a:p>
          <a:p>
            <a:r>
              <a:rPr lang="en-US" dirty="0"/>
              <a:t>    by the self-checking testbenches, never by reading a waveform. This is</a:t>
            </a:r>
          </a:p>
          <a:p>
            <a:r>
              <a:rPr lang="en-US" dirty="0"/>
              <a:t>    evidence for you, not the test.</a:t>
            </a:r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19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097524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   To close.</a:t>
            </a:r>
          </a:p>
          <a:p>
            <a:endParaRPr lang="en-US" dirty="0"/>
          </a:p>
          <a:p>
            <a:r>
              <a:rPr lang="en-US" dirty="0"/>
              <a:t>    Function: forty-six encodings execute correctly on a five-stage</a:t>
            </a:r>
          </a:p>
          <a:p>
            <a:r>
              <a:rPr lang="en-US" dirty="0"/>
              <a:t>    pipeline with full forwarding, an interlock and flush-based recovery,</a:t>
            </a:r>
          </a:p>
          <a:p>
            <a:r>
              <a:rPr lang="en-US" dirty="0"/>
              <a:t>    checked byte for byte against an independent model at every build</a:t>
            </a:r>
          </a:p>
          <a:p>
            <a:r>
              <a:rPr lang="en-US" dirty="0"/>
              <a:t>    configuration.</a:t>
            </a:r>
          </a:p>
          <a:p>
            <a:endParaRPr lang="en-US" dirty="0"/>
          </a:p>
          <a:p>
            <a:r>
              <a:rPr lang="en-US" dirty="0"/>
              <a:t>    Performance: forwarding is worth one point three two times overall,</a:t>
            </a:r>
          </a:p>
          <a:p>
            <a:r>
              <a:rPr lang="en-US" dirty="0"/>
              <a:t>    one point six five on the tightest loop, and the predictor reaches</a:t>
            </a:r>
          </a:p>
          <a:p>
            <a:r>
              <a:rPr lang="en-US" dirty="0"/>
              <a:t>    ninety-five percent where branches are taken. Both measured with the</a:t>
            </a:r>
          </a:p>
          <a:p>
            <a:r>
              <a:rPr lang="en-US" dirty="0"/>
              <a:t>    feature switched off as the baseline.</a:t>
            </a:r>
          </a:p>
          <a:p>
            <a:endParaRPr lang="en-US" dirty="0"/>
          </a:p>
          <a:p>
            <a:r>
              <a:rPr lang="en-US" dirty="0"/>
              <a:t>    Between here and the seventeenth: two timing improvements, the final</a:t>
            </a:r>
          </a:p>
          <a:p>
            <a:r>
              <a:rPr lang="en-US" dirty="0"/>
              <a:t>    regression, the final synthesis run, and the demo package.</a:t>
            </a:r>
          </a:p>
          <a:p>
            <a:endParaRPr lang="en-US" dirty="0"/>
          </a:p>
          <a:p>
            <a:r>
              <a:rPr lang="en-US" dirty="0"/>
              <a:t>    Every criterion we set on slide two is already met once. What remains</a:t>
            </a:r>
          </a:p>
          <a:p>
            <a:r>
              <a:rPr lang="en-US" dirty="0"/>
              <a:t>    is measurement on a machine that runs, not design work.</a:t>
            </a:r>
          </a:p>
          <a:p>
            <a:endParaRPr lang="en-US" dirty="0"/>
          </a:p>
          <a:p>
            <a:r>
              <a:rPr lang="en-US" dirty="0"/>
              <a:t>    Thank you — happy to take questions.</a:t>
            </a:r>
          </a:p>
          <a:p>
            <a:endParaRPr lang="en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3BAA41-9C9C-DE42-BC83-116BC84593B7}" type="slidenum">
              <a:rPr lang="en-TH" smtClean="0"/>
              <a:t>20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40291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Computer Organization · BIT Y4T1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904" y="10515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60">
                <a:solidFill>
                  <a:srgbClr val="2F6FA8"/>
                </a:solidFill>
                <a:latin typeface="Consolas"/>
              </a:rPr>
              <a:t>PIPELINE CPU PROJECT · MIDTERM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41732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2A2419"/>
                </a:solidFill>
                <a:latin typeface="Arial"/>
              </a:rPr>
              <a:t>A 5-stage RISC-V</a:t>
            </a:r>
          </a:p>
          <a:p>
            <a:pPr algn="l">
              <a:lnSpc>
                <a:spcPct val="102000"/>
              </a:lnSpc>
              <a:spcBef>
                <a:spcPts val="400"/>
              </a:spcBef>
            </a:pPr>
            <a:r>
              <a:rPr sz="4000" b="1">
                <a:solidFill>
                  <a:srgbClr val="2A2419"/>
                </a:solidFill>
                <a:latin typeface="Arial"/>
              </a:rPr>
              <a:t>RV32I processor in Verilog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2880360"/>
            <a:ext cx="9692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55C4C"/>
                </a:solidFill>
                <a:latin typeface="Arial"/>
              </a:rPr>
              <a:t>46 instruction encodings, full forwarding, a load-use interlock, branch prediction and machine-mode interrupts. Verified against a golden reference model we wrote ourselves, and synthesized for an Artix-7.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" y="3840480"/>
            <a:ext cx="2143353" cy="475488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17266" y="3840480"/>
            <a:ext cx="2143353" cy="475488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4628" y="3840480"/>
            <a:ext cx="2143353" cy="475488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1989" y="3840480"/>
            <a:ext cx="2143353" cy="475488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9351" y="3840480"/>
            <a:ext cx="2143353" cy="475488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" y="4526280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8F8674"/>
                </a:solidFill>
                <a:latin typeface="Consolas"/>
              </a:rPr>
              <a:t>Colours used throughout:   </a:t>
            </a:r>
            <a:r>
              <a:rPr sz="950" b="1">
                <a:solidFill>
                  <a:srgbClr val="9A6410"/>
                </a:solidFill>
                <a:latin typeface="Consolas"/>
              </a:rPr>
              <a:t>bypass network    </a:t>
            </a:r>
            <a:r>
              <a:rPr sz="950" b="1">
                <a:solidFill>
                  <a:srgbClr val="6B54A8"/>
                </a:solidFill>
                <a:latin typeface="Consolas"/>
              </a:rPr>
              <a:t>interlock / stall    </a:t>
            </a:r>
            <a:r>
              <a:rPr sz="950" b="1">
                <a:solidFill>
                  <a:srgbClr val="A83226"/>
                </a:solidFill>
                <a:latin typeface="Consolas"/>
              </a:rPr>
              <a:t>flush / killed    </a:t>
            </a:r>
            <a:r>
              <a:rPr sz="950" b="1">
                <a:solidFill>
                  <a:srgbClr val="3E7A4A"/>
                </a:solidFill>
                <a:latin typeface="Consolas"/>
              </a:rPr>
              <a:t>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491947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35200" y="4892040"/>
            <a:ext cx="7370064" cy="16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2A2419"/>
                </a:solidFill>
                <a:latin typeface="Arial"/>
              </a:rPr>
              <a:t>[ </a:t>
            </a:r>
            <a:r>
              <a:rPr lang="en-TH" sz="1000" b="0" dirty="0">
                <a:solidFill>
                  <a:srgbClr val="2A2419"/>
                </a:solidFill>
                <a:latin typeface="Arial"/>
              </a:rPr>
              <a:t>杨辉宗</a:t>
            </a:r>
            <a:r>
              <a:rPr sz="1000" b="0" dirty="0">
                <a:solidFill>
                  <a:srgbClr val="2A2419"/>
                </a:solidFill>
                <a:latin typeface="Arial"/>
              </a:rPr>
              <a:t> ]  ·  microarchitecture, hazard scheme, design document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904" y="5166360"/>
            <a:ext cx="85953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9904" y="524865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35200" y="5221224"/>
            <a:ext cx="7370064" cy="16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2A2419"/>
                </a:solidFill>
                <a:latin typeface="Arial"/>
              </a:rPr>
              <a:t>[ </a:t>
            </a:r>
            <a:r>
              <a:rPr lang="en-TH" sz="1000" b="0" dirty="0">
                <a:solidFill>
                  <a:srgbClr val="2A2419"/>
                </a:solidFill>
                <a:latin typeface="Arial"/>
              </a:rPr>
              <a:t>吴宏庆</a:t>
            </a:r>
            <a:r>
              <a:rPr sz="1000" b="0" dirty="0">
                <a:solidFill>
                  <a:srgbClr val="2A2419"/>
                </a:solidFill>
                <a:latin typeface="Arial"/>
              </a:rPr>
              <a:t> ]  ·  19 RTL modules, assembler, reference model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904" y="5495544"/>
            <a:ext cx="85953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9904" y="5577840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35200" y="5550408"/>
            <a:ext cx="7370064" cy="16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2A2419"/>
                </a:solidFill>
                <a:latin typeface="Arial"/>
              </a:rPr>
              <a:t>[ </a:t>
            </a:r>
            <a:r>
              <a:rPr lang="en-TH" sz="1000" b="0" dirty="0">
                <a:solidFill>
                  <a:srgbClr val="2A2419"/>
                </a:solidFill>
                <a:latin typeface="Arial"/>
              </a:rPr>
              <a:t>王伟成</a:t>
            </a:r>
            <a:r>
              <a:rPr sz="1000" b="0" dirty="0">
                <a:solidFill>
                  <a:srgbClr val="2A2419"/>
                </a:solidFill>
                <a:latin typeface="Arial"/>
              </a:rPr>
              <a:t> ]  ·  testbenches, trace diffing, performance measurement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What we propose to build, why we chose it, and </a:t>
            </a:r>
            <a:r>
              <a:rPr sz="1300" b="0">
                <a:solidFill>
                  <a:srgbClr val="2F6FA8"/>
                </a:solidFill>
                <a:latin typeface="Arial"/>
              </a:rPr>
              <a:t>the prototype that already shows it works</a:t>
            </a:r>
            <a:r>
              <a:rPr sz="1300" b="0">
                <a:solidFill>
                  <a:srgbClr val="2A241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2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THE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What we are building, and how it will be judged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4663440" cy="4160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" y="1920240"/>
            <a:ext cx="4334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THE COURSE TASK, VERBATIM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" y="2240280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2A2419"/>
                </a:solidFill>
                <a:latin typeface="Arial"/>
              </a:rPr>
              <a:t>"Design a pipeline CPU based on MIPS/RISC-V or other instruction subsets with more than 16 instructions. And implement the CPU by Verilog HDL. Use the simulation tools to show the function and performance of your CPU."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" y="352044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55C4C"/>
                </a:solidFill>
                <a:latin typeface="Arial"/>
              </a:rPr>
              <a:t>"Bonus items: support interrupt, cache, branch prediction."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2784" y="4114800"/>
            <a:ext cx="429768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2784" y="4251960"/>
            <a:ext cx="4297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spc="140">
                <a:solidFill>
                  <a:srgbClr val="8F8674"/>
                </a:solidFill>
                <a:latin typeface="Consolas"/>
              </a:rPr>
              <a:t>EXPLICITLY OUT OF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" y="4526280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No FPGA board bring-up. The task says simulation tools, so we deliver simulation plus a synthesis report on a named part. No instruction cache; the reasoning is on the next slide.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47664" y="1783080"/>
            <a:ext cx="603504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2256" y="1920240"/>
            <a:ext cx="57058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WHAT WE COMMIT TO DELIVER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0544" y="224027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MACHINE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0120" y="2212848"/>
            <a:ext cx="4489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 5-stage in-order RV32I pipeline, 46 encodings, full forwarding, load-use interlock, flush-based recovery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30544" y="2523744"/>
            <a:ext cx="56692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30544" y="260603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BONUS x2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0120" y="2578608"/>
            <a:ext cx="4489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 2-bit branch predictor and machine-mode interrupts, each measurable and each switchable off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730544" y="2889503"/>
            <a:ext cx="56692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730544" y="297179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TOOLCHAIN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0120" y="2944368"/>
            <a:ext cx="4489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An assembler and an independent reference model, because the named tool cannot execute this ISA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30544" y="3255263"/>
            <a:ext cx="56692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730544" y="333755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0120" y="3310127"/>
            <a:ext cx="4489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 self-checking test suite, a design document, and a synthesis report for xc7a35tcpg236-1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47664" y="3931920"/>
            <a:ext cx="6035040" cy="201168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12256" y="4069080"/>
            <a:ext cx="57058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HOW WE WILL KNOW IT IS DONE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30544" y="438912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CORRECT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0120" y="4361688"/>
            <a:ext cx="44897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Every instruction checked against an independent implementation, byte for byte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730544" y="4690872"/>
            <a:ext cx="56692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730544" y="477316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FUNCTION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0120" y="4745736"/>
            <a:ext cx="44897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Shown in simulation, every test stating its own PASS or FAIL verdict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30544" y="5074920"/>
            <a:ext cx="56692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30544" y="515721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PERFORMANCE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0120" y="5129783"/>
            <a:ext cx="44897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Measured by switching a feature off and re-running. A number with no baseline proves nothing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730544" y="5458968"/>
            <a:ext cx="56692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730544" y="554126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SYNTHESIS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10120" y="5513831"/>
            <a:ext cx="448970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An fmax and a utilisation figure on a named part, with the critical path identified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We are past proposing this on paper. </a:t>
            </a:r>
            <a:r>
              <a:rPr sz="1300" b="0">
                <a:solidFill>
                  <a:srgbClr val="2F6FA8"/>
                </a:solidFill>
                <a:latin typeface="Arial"/>
              </a:rPr>
              <a:t>A working prototype already meets every criterion above</a:t>
            </a:r>
            <a:r>
              <a:rPr sz="1300" b="0">
                <a:solidFill>
                  <a:srgbClr val="2A2419"/>
                </a:solidFill>
                <a:latin typeface="Arial"/>
              </a:rPr>
              <a:t>, and the rest of this talk is the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3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143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 dirty="0">
                <a:solidFill>
                  <a:srgbClr val="2F6FA8"/>
                </a:solidFill>
                <a:latin typeface="Consolas"/>
              </a:rPr>
              <a:t>SPEAKER 1 OF 3  ·  [ </a:t>
            </a:r>
            <a:r>
              <a:rPr lang="en-TH" sz="850" b="1" spc="260" dirty="0">
                <a:solidFill>
                  <a:srgbClr val="2F6FA8"/>
                </a:solidFill>
                <a:latin typeface="Consolas"/>
              </a:rPr>
              <a:t>杨辉宗</a:t>
            </a:r>
            <a:r>
              <a:rPr sz="850" b="1" spc="260" dirty="0">
                <a:solidFill>
                  <a:srgbClr val="2F6FA8"/>
                </a:solidFill>
                <a:latin typeface="Consolas"/>
              </a:rPr>
              <a:t>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Design — the specification the RTL was written against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691640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55C4C"/>
                </a:solidFill>
                <a:latin typeface="Arial"/>
              </a:rPr>
              <a:t>Every decision below was made and written down before a line of Verilog existed, so the coder implemented a specification rather than inventing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" y="2194560"/>
            <a:ext cx="5852160" cy="37947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" y="2331720"/>
            <a:ext cx="5522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OWNED END TO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" y="2679191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MICROARCH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3800" y="2651760"/>
            <a:ext cx="421538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Five-stage structure, pipeline-register fields, PC-select priority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" y="3127248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" y="320954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ISA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63800" y="3182112"/>
            <a:ext cx="421538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Instruction subset, all six formats, immediate extraction, CSR zimm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784" y="3657599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2784" y="373989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HAZARDS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3800" y="3712463"/>
            <a:ext cx="421538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Forwarding rules and priority, load-use interlock, flush rules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2784" y="4187952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2784" y="4270248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3800" y="4242816"/>
            <a:ext cx="421538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Harvard layout, sizes, byte lanes, misalignment policy, reset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2784" y="4718304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2784" y="480060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TRAPS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63800" y="4773168"/>
            <a:ext cx="421538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CSR set, mepc / mcause, the ecall versus interrupt asymmetry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2784" y="5248656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2784" y="533095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63800" y="5303520"/>
            <a:ext cx="421538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Read every RTL module against the spec before it was committed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2782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7412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F6FA8"/>
                </a:solidFill>
                <a:latin typeface="Arial"/>
              </a:rPr>
              <a:t>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412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encodings specified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412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37 core + 9 system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50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0480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0480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control signals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480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per instruction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8918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3548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9A6410"/>
                </a:solidFill>
                <a:latin typeface="Arial"/>
              </a:rPr>
              <a:t>1,819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3548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lines of spec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3548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the living document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27824" y="3291839"/>
            <a:ext cx="4754880" cy="14173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92416" y="3428999"/>
            <a:ext cx="4425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DELIVERED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0704" y="3675887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•  The 46-encoding ISA table and all six immediate formats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655C4C"/>
                </a:solidFill>
                <a:latin typeface="Arial"/>
              </a:rPr>
              <a:t>•  The 46-row control truth table, 22 signals wide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655C4C"/>
                </a:solidFill>
                <a:latin typeface="Arial"/>
              </a:rPr>
              <a:t>•  CSR, trap and mret semantics; docs/DESIGN.md kept current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27824" y="4846320"/>
            <a:ext cx="4754880" cy="114300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92416" y="4983480"/>
            <a:ext cx="4425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WHERE TO LOOK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10704" y="5230368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Consolas"/>
              </a:rPr>
              <a:t>docs/DESIGN.md</a:t>
            </a:r>
            <a:r>
              <a:rPr sz="950" b="0">
                <a:solidFill>
                  <a:srgbClr val="655C4C"/>
                </a:solidFill>
                <a:latin typeface="Arial"/>
              </a:rPr>
              <a:t>. The control truth table is </a:t>
            </a:r>
            <a:r>
              <a:rPr sz="950" b="1">
                <a:solidFill>
                  <a:srgbClr val="655C4C"/>
                </a:solidFill>
                <a:latin typeface="Arial"/>
              </a:rPr>
              <a:t>generated from the same source</a:t>
            </a:r>
            <a:r>
              <a:rPr sz="950" b="0">
                <a:solidFill>
                  <a:srgbClr val="655C4C"/>
                </a:solidFill>
                <a:latin typeface="Arial"/>
              </a:rPr>
              <a:t> that generates the decoder's test vectors, so document and test cannot drift apart.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The design document is not a write-up of what was built. It is </a:t>
            </a:r>
            <a:r>
              <a:rPr sz="1300" b="0">
                <a:solidFill>
                  <a:srgbClr val="2F6FA8"/>
                </a:solidFill>
                <a:latin typeface="Arial"/>
              </a:rPr>
              <a:t>what the build was checked against</a:t>
            </a:r>
            <a:r>
              <a:rPr sz="1300" b="0">
                <a:solidFill>
                  <a:srgbClr val="2A241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4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46 encodings against a 16-instruction requirement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7830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COURSE MINIMUM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" y="1993392"/>
            <a:ext cx="1828800" cy="182880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30144" y="195681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655C4C"/>
                </a:solidFill>
                <a:latin typeface="Consolas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237744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2F6FA8"/>
                </a:solidFill>
                <a:latin typeface="Consolas"/>
              </a:rPr>
              <a:t>IMPLEMENTED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904" y="2587752"/>
            <a:ext cx="5257800" cy="182880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59144" y="255117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F6FA8"/>
                </a:solidFill>
                <a:latin typeface="Consolas"/>
              </a:rPr>
              <a:t>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504" y="2551176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8F8674"/>
                </a:solidFill>
                <a:latin typeface="Arial"/>
              </a:rPr>
              <a:t>2.9× the requirement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" y="3127248"/>
            <a:ext cx="2633472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904" y="3127248"/>
            <a:ext cx="2633472" cy="32004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7920" y="32735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R-TYPE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3296" y="32369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" y="3529584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add sub sll slt sltu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xor srl sra or and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9680" y="3127248"/>
            <a:ext cx="2633472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389680" y="3127248"/>
            <a:ext cx="2633472" cy="32004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17696" y="32735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I-ARITHMETIC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3072" y="32369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17696" y="3529584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addi slti sltiu xori ori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andi slli srli srai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9456" y="3127248"/>
            <a:ext cx="2633472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69456" y="3127248"/>
            <a:ext cx="2633472" cy="32004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97472" y="32735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LOADS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2848" y="32369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7472" y="3529584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lb lh lw lbu lhu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sign / zero extended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49232" y="3127248"/>
            <a:ext cx="2633472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49232" y="3127248"/>
            <a:ext cx="2633472" cy="32004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77248" y="32735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STORES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42624" y="32369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7248" y="3529584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sb sh sw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byte-lane writes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904" y="4041648"/>
            <a:ext cx="2633472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9904" y="4041648"/>
            <a:ext cx="2633472" cy="32004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7920" y="41879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BRANCHES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03296" y="41513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920" y="4443984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beq bne blt bge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bltu bgeu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9680" y="4041648"/>
            <a:ext cx="2633472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389680" y="4041648"/>
            <a:ext cx="2633472" cy="32004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517696" y="4187952"/>
            <a:ext cx="18105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U-TYPE &amp; JUMPS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83072" y="41513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7696" y="4443984"/>
            <a:ext cx="23774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lui auipc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jal jalr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69456" y="4041648"/>
            <a:ext cx="5413248" cy="78638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169456" y="4041648"/>
            <a:ext cx="5413248" cy="32004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97472" y="418795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8F8674"/>
                </a:solidFill>
                <a:latin typeface="Consolas"/>
              </a:rPr>
              <a:t>SYSTEM — THE INTERRUPT BONUS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42624" y="4151376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7472" y="44439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csrrw csrrs csrrc csrrwi csrrsi csrrci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ecall   ebreak   mret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904" y="5394960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All 46 follow the RISC-V Unprivileged and Privileged specifications exactly.  fence and wfi decode as illegal.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F6FA8"/>
                </a:solidFill>
                <a:latin typeface="Consolas"/>
              </a:rPr>
              <a:t>ebreak</a:t>
            </a:r>
            <a:r>
              <a:rPr sz="1300" b="0">
                <a:solidFill>
                  <a:srgbClr val="2A2419"/>
                </a:solidFill>
                <a:latin typeface="Arial"/>
              </a:rPr>
              <a:t> doubles as the simulation halt. RV32I has no halt instruction, so it raises a done flag the testbench watches.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5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DESIGN CHOICES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What we chose, and what we ruled 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37360"/>
            <a:ext cx="10972800" cy="420624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2784" y="2121408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5784" y="2121408"/>
            <a:ext cx="2240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We chose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6064" y="2121408"/>
            <a:ext cx="1783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Instead 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9144" y="2121408"/>
            <a:ext cx="5257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Why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" y="2368296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" y="2432303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ISA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5784" y="2432303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RISC-V RV32I, 46 encodings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6064" y="2432303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MIPS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9144" y="2432303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A clean orthogonal encoding we could assemble and model ourselves, and 2.9x the 16-instruction minimum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784" y="2834639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784" y="2907791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5784" y="2907791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5-stage in-order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6064" y="2907791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Single-cycle, or a deeper pipe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59144" y="2907791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The shallowest design that still exposes all three hazard classes, which is the point of the exercise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2784" y="3310127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2784" y="3383279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Branches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5784" y="3383279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jal in ID, branches and jalr in 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6064" y="3383279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Everything in one stage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9144" y="3383279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jal needs no register, so resolving it early is free. Branches need a compare, and doing it in EX keeps it off the decode path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92784" y="3785615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92784" y="3858768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Bonus 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35784" y="3858768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2-bit branch history 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76064" y="3858768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Static prediction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59144" y="3858768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Cheap in area, and its accuracy is a number we can report honestly, including where it loses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2784" y="4261104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2784" y="433425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Bonus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5784" y="4334256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CSRs, traps and mret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6064" y="4334256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--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59144" y="4334256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Exercises privileged state and trap semantics, demonstrable from a testbench-driven interrupt line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2784" y="4736592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792784" y="4773168"/>
            <a:ext cx="10607040" cy="438912"/>
          </a:xfrm>
          <a:prstGeom prst="rect">
            <a:avLst/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2784" y="480974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9A6410"/>
                </a:solidFill>
                <a:latin typeface="Consolas"/>
              </a:rPr>
              <a:t>Bonus 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35784" y="4809744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9A6410"/>
                </a:solidFill>
                <a:latin typeface="Arial"/>
              </a:rPr>
              <a:t>Instruction cache - CUT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76064" y="4809744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Building it anyway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59144" y="4809744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Behind a single-cycle memory a hit and a miss cost the same, so CPI would not move, and the suite fits in 2 KB so the hit rate reads ~99 %. Designed and written up, not built.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92784" y="5212080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92784" y="5285231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Reference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5784" y="5285231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Our own Python model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76064" y="5285231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Mars4_5, as the brief names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59144" y="5285231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Mars executes MIPS. It cannot assemble or check RISC-V, so there was no oracle to borrow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92784" y="5687568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92784" y="5760719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Target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35784" y="5760719"/>
            <a:ext cx="21305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Simulation + synthesis report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76064" y="5760719"/>
            <a:ext cx="167335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FPGA board demo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9144" y="5760719"/>
            <a:ext cx="5166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The brief asks for simulation. Synthesis still yields fmax and utilisation without board bring-up risk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92784" y="6163055"/>
            <a:ext cx="106070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The cache was cut on a </a:t>
            </a:r>
            <a:r>
              <a:rPr sz="1300" b="0">
                <a:solidFill>
                  <a:srgbClr val="2F6FA8"/>
                </a:solidFill>
                <a:latin typeface="Arial"/>
              </a:rPr>
              <a:t>measurement</a:t>
            </a:r>
            <a:r>
              <a:rPr sz="1300" b="0">
                <a:solidFill>
                  <a:srgbClr val="2A2419"/>
                </a:solidFill>
                <a:latin typeface="Arial"/>
              </a:rPr>
              <a:t> argument, not a schedule one. A figure that reads 99 % on every program says nothing about the design.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6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DATAPATH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Five stages, three bypasses, one interlock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2331720"/>
            <a:ext cx="196596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904" y="2331720"/>
            <a:ext cx="1965960" cy="274320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9632" y="271576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pc.v + PC-select mux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9632" y="3218687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imem.v  4 KB sync read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9632" y="372160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bht.v  lookup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8160" y="2404872"/>
            <a:ext cx="109728" cy="1819656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850184" y="2331720"/>
            <a:ext cx="196596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850184" y="2331720"/>
            <a:ext cx="1965960" cy="274320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59912" y="271576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control.v · alu_ctrl.v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59912" y="3218687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regfile.v read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59912" y="372160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imm_gen.v  6 formats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8440" y="2404872"/>
            <a:ext cx="109728" cy="1819656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90464" y="2331720"/>
            <a:ext cx="1965960" cy="1965960"/>
          </a:xfrm>
          <a:prstGeom prst="rect">
            <a:avLst/>
          </a:prstGeom>
          <a:solidFill>
            <a:srgbClr val="F7F3E8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90464" y="2331720"/>
            <a:ext cx="1965960" cy="274320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00192" y="2715768"/>
            <a:ext cx="1746504" cy="402336"/>
          </a:xfrm>
          <a:prstGeom prst="rect">
            <a:avLst/>
          </a:prstGeom>
          <a:solidFill>
            <a:srgbClr val="EFE2CC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forward mux A / B / 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00192" y="3218687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alu.v  11 operations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00192" y="372160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branch_unit.v · csr.v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8720" y="2404872"/>
            <a:ext cx="109728" cy="1819656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330744" y="2331720"/>
            <a:ext cx="196596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330744" y="2331720"/>
            <a:ext cx="1965960" cy="274320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40472" y="271576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dmem.v  4 KB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40472" y="3218687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byte-lane select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9000" y="2404872"/>
            <a:ext cx="109728" cy="1819656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571024" y="2331720"/>
            <a:ext cx="196596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571024" y="2331720"/>
            <a:ext cx="1965960" cy="274320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80752" y="271576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lane extend + wb mux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80752" y="3218687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regfile write  (x0 dropped)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0752" y="3721608"/>
            <a:ext cx="1746504" cy="402336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0">
                <a:solidFill>
                  <a:srgbClr val="2A2419"/>
                </a:solidFill>
                <a:latin typeface="Consolas"/>
              </a:rPr>
              <a:t>commit trace 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21000" y="432511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IF/ID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1280" y="432511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ID/EX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01560" y="432511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EX/MEM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1840" y="432511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MEM/WB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6073444" y="4553712"/>
            <a:ext cx="1120140" cy="0"/>
          </a:xfrm>
          <a:prstGeom prst="line">
            <a:avLst/>
          </a:prstGeom>
          <a:ln w="15875">
            <a:solidFill>
              <a:srgbClr val="9A64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193584" y="4297679"/>
            <a:ext cx="0" cy="256033"/>
          </a:xfrm>
          <a:prstGeom prst="line">
            <a:avLst/>
          </a:prstGeom>
          <a:ln w="15875">
            <a:solidFill>
              <a:srgbClr val="9A6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073444" y="3118103"/>
            <a:ext cx="0" cy="1435609"/>
          </a:xfrm>
          <a:prstGeom prst="line">
            <a:avLst/>
          </a:prstGeom>
          <a:ln w="15875">
            <a:solidFill>
              <a:srgbClr val="9A6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285024" y="443484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9A6410"/>
                </a:solidFill>
                <a:latin typeface="Consolas"/>
              </a:rPr>
              <a:t>EX/MEM → EX   distance 1   priority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433864" y="4297679"/>
            <a:ext cx="0" cy="640080"/>
          </a:xfrm>
          <a:prstGeom prst="line">
            <a:avLst/>
          </a:prstGeom>
          <a:ln w="15875">
            <a:solidFill>
              <a:srgbClr val="9A6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753404" y="4937759"/>
            <a:ext cx="3680460" cy="0"/>
          </a:xfrm>
          <a:prstGeom prst="line">
            <a:avLst/>
          </a:prstGeom>
          <a:ln w="15875">
            <a:solidFill>
              <a:srgbClr val="9A64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753404" y="3118103"/>
            <a:ext cx="0" cy="1819656"/>
          </a:xfrm>
          <a:prstGeom prst="line">
            <a:avLst/>
          </a:prstGeom>
          <a:ln w="15875">
            <a:solidFill>
              <a:srgbClr val="9A64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525304" y="4754879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9A6410"/>
                </a:solidFill>
                <a:latin typeface="Consolas"/>
              </a:rPr>
              <a:t>MEM/WB → EX  distance 2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9A6410"/>
                </a:solidFill>
                <a:latin typeface="Consolas"/>
              </a:rPr>
              <a:t>carries load data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3833164" y="2130551"/>
            <a:ext cx="0" cy="201169"/>
          </a:xfrm>
          <a:prstGeom prst="line">
            <a:avLst/>
          </a:prstGeom>
          <a:ln w="15875">
            <a:solidFill>
              <a:srgbClr val="A83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021384" y="2130551"/>
            <a:ext cx="2811780" cy="0"/>
          </a:xfrm>
          <a:prstGeom prst="line">
            <a:avLst/>
          </a:prstGeom>
          <a:ln w="15875">
            <a:solidFill>
              <a:srgbClr val="A83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21384" y="2130551"/>
            <a:ext cx="0" cy="201169"/>
          </a:xfrm>
          <a:prstGeom prst="line">
            <a:avLst/>
          </a:prstGeom>
          <a:ln w="15875">
            <a:solidFill>
              <a:srgbClr val="A8322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942892" y="2011679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A83226"/>
                </a:solidFill>
                <a:latin typeface="Consolas"/>
              </a:rPr>
              <a:t>jal target — ID, 1 bubble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6073444" y="1874519"/>
            <a:ext cx="0" cy="457201"/>
          </a:xfrm>
          <a:prstGeom prst="line">
            <a:avLst/>
          </a:prstGeom>
          <a:ln w="15875">
            <a:solidFill>
              <a:srgbClr val="A83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792784" y="1874519"/>
            <a:ext cx="5280660" cy="0"/>
          </a:xfrm>
          <a:prstGeom prst="line">
            <a:avLst/>
          </a:prstGeom>
          <a:ln w="15875">
            <a:solidFill>
              <a:srgbClr val="A832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92784" y="1874519"/>
            <a:ext cx="0" cy="457201"/>
          </a:xfrm>
          <a:prstGeom prst="line">
            <a:avLst/>
          </a:prstGeom>
          <a:ln w="15875">
            <a:solidFill>
              <a:srgbClr val="A8322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183172" y="1755648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A83226"/>
                </a:solidFill>
                <a:latin typeface="Consolas"/>
              </a:rPr>
              <a:t>branch · jalr · mtvec · mepc — EX, 2 bubbles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953304" y="4297679"/>
            <a:ext cx="0" cy="1024128"/>
          </a:xfrm>
          <a:prstGeom prst="line">
            <a:avLst/>
          </a:prstGeom>
          <a:ln w="15875">
            <a:solidFill>
              <a:srgbClr val="6B54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1158544" y="5321807"/>
            <a:ext cx="3794760" cy="0"/>
          </a:xfrm>
          <a:prstGeom prst="line">
            <a:avLst/>
          </a:prstGeom>
          <a:ln w="15875">
            <a:solidFill>
              <a:srgbClr val="6B54A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158544" y="4297679"/>
            <a:ext cx="0" cy="1024128"/>
          </a:xfrm>
          <a:prstGeom prst="line">
            <a:avLst/>
          </a:prstGeom>
          <a:ln w="15875">
            <a:solidFill>
              <a:srgbClr val="6B54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044744" y="5202936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54A8"/>
                </a:solidFill>
                <a:latin typeface="Consolas"/>
              </a:rPr>
              <a:t>load-use interlock — hold PC and IF/ID, bubble ID/EX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Every stage boundary is an explicit register with </a:t>
            </a:r>
            <a:r>
              <a:rPr sz="1300" b="0">
                <a:solidFill>
                  <a:srgbClr val="2F6FA8"/>
                </a:solidFill>
                <a:latin typeface="Arial"/>
              </a:rPr>
              <a:t>stall</a:t>
            </a:r>
            <a:r>
              <a:rPr sz="1300" b="0">
                <a:solidFill>
                  <a:srgbClr val="2A2419"/>
                </a:solidFill>
                <a:latin typeface="Arial"/>
              </a:rPr>
              <a:t> and </a:t>
            </a:r>
            <a:r>
              <a:rPr sz="1300" b="0">
                <a:solidFill>
                  <a:srgbClr val="2F6FA8"/>
                </a:solidFill>
                <a:latin typeface="Arial"/>
              </a:rPr>
              <a:t>flush</a:t>
            </a:r>
            <a:r>
              <a:rPr sz="1300" b="0">
                <a:solidFill>
                  <a:srgbClr val="2A2419"/>
                </a:solidFill>
                <a:latin typeface="Arial"/>
              </a:rPr>
              <a:t> inputs, so the hazard logic plugs in without touching the datapath.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7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What already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691640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55C4C"/>
                </a:solidFill>
                <a:latin typeface="Arial"/>
              </a:rPr>
              <a:t>Every commitment on the objective slide has been met once already, on a prototype that runs today. The schedule on the next slide is what remains.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" y="2240280"/>
            <a:ext cx="5340096" cy="356616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" y="2377440"/>
            <a:ext cx="5010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BUILT AND RUNNING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" y="272491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2360" y="2697480"/>
            <a:ext cx="3794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Microarchitecture, hazards, memory and the 46-row control truth table, documented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" y="3465576"/>
            <a:ext cx="4974336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" y="354787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72360" y="3520440"/>
            <a:ext cx="3794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19 Verilog modules; the machine executes all 46 encodings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784" y="4288536"/>
            <a:ext cx="4974336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2784" y="437083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BONUS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72360" y="4343400"/>
            <a:ext cx="3794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Branch predictor, with accuracy and cycle deltas measured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2608" y="2240280"/>
            <a:ext cx="5340096" cy="356616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5488" y="272491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BONUS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5064" y="2697480"/>
            <a:ext cx="3794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Interrupts. Trap entry, ISR and mret, all diff-tested against the reference model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25488" y="3465576"/>
            <a:ext cx="4974336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25488" y="354787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5064" y="3520440"/>
            <a:ext cx="3794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Every suite green at all four build configurations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25488" y="4288536"/>
            <a:ext cx="4974336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25488" y="437083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SYNTHESIS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5064" y="4343400"/>
            <a:ext cx="379475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Placed and routed; setup timing met at 74 MHz on the target part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The specification came first and the implementation followed it. </a:t>
            </a:r>
            <a:r>
              <a:rPr sz="1300" b="0">
                <a:solidFill>
                  <a:srgbClr val="2F6FA8"/>
                </a:solidFill>
                <a:latin typeface="Arial"/>
              </a:rPr>
              <a:t>That order is why the schedule on the next slide is credible.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01 ·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8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What we hand over, who owns it, and when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5852160" cy="4160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" y="1920240"/>
            <a:ext cx="5522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DELIVERABLES, ONE OWNER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" y="22402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Artefact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3184" y="22402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Owner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904" y="224028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State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" y="2487168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" y="255117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Design document and control truth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3184" y="255117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904" y="255117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3E7A4A"/>
                </a:solidFill>
                <a:latin typeface="Arial"/>
              </a:rPr>
              <a:t>complete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2784" y="2807208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2784" y="288036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19 RTL modules, plain Verilog-2001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93184" y="288036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Coding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1904" y="288036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3E7A4A"/>
                </a:solidFill>
                <a:latin typeface="Arial"/>
              </a:rPr>
              <a:t>complete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2784" y="3136391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2784" y="320954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Assembler and reference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93184" y="32095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Coding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1904" y="3209544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3E7A4A"/>
                </a:solidFill>
                <a:latin typeface="Arial"/>
              </a:rPr>
              <a:t>complete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2784" y="3465576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2784" y="3538727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Self-checking test suite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93184" y="3538727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1904" y="3538727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3E7A4A"/>
                </a:solidFill>
                <a:latin typeface="Arial"/>
              </a:rPr>
              <a:t>complete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2784" y="3794759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2784" y="3867911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Performance measurements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93184" y="3867911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1904" y="3867911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Arial"/>
              </a:rPr>
              <a:t>preliminary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2784" y="4123944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2784" y="419709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Synthesis report: fmax and utilisation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93184" y="41970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Testing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81904" y="419709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Arial"/>
              </a:rPr>
              <a:t>one run left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92784" y="4453128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92784" y="45262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Live demo and script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93184" y="45262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All three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1904" y="4526280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Arial"/>
              </a:rPr>
              <a:t>Sep 16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92784" y="4782312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736384" y="1783080"/>
            <a:ext cx="4846320" cy="1874519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900976" y="1920240"/>
            <a:ext cx="4517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MILESTONES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19264" y="224027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SEP 11-12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8840" y="2212848"/>
            <a:ext cx="3300984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Apply the two timing improvements; full regression after each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919264" y="2441448"/>
            <a:ext cx="44805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919264" y="252374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SEP 13-14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8840" y="2496312"/>
            <a:ext cx="3300984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Final synthesis run; lock the performance chapter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919264" y="2724912"/>
            <a:ext cx="44805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919264" y="280720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SEP 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8840" y="2779776"/>
            <a:ext cx="3300984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Feature freeze - bugfix and measurement only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919264" y="3008376"/>
            <a:ext cx="44805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919264" y="309067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SEP 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98840" y="3063240"/>
            <a:ext cx="3300984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Demo script, waveform captures, rehearsal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919264" y="3291840"/>
            <a:ext cx="44805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919264" y="337413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SEP 17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98840" y="3346704"/>
            <a:ext cx="3300984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Final presentation and demo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36384" y="3840480"/>
            <a:ext cx="4846320" cy="2103120"/>
          </a:xfrm>
          <a:prstGeom prst="rect">
            <a:avLst/>
          </a:prstGeom>
          <a:solidFill>
            <a:srgbClr val="F7F3E8"/>
          </a:solidFill>
          <a:ln w="12700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900976" y="3977640"/>
            <a:ext cx="45171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RISKS, AND WHAT WE DO ABOUT EACH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19264" y="429768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TIMING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90280" y="4270248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If the two improvements do not close cleanly by Sep 14, we freeze on the 74 MHz build that is already verified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919264" y="4764024"/>
            <a:ext cx="44805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919264" y="484632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REGRESSION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90280" y="4818888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One change moves when a load result is available, so it can shift CPI. Figures are re-measured after the freeze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919264" y="5312664"/>
            <a:ext cx="448056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919264" y="5394959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TOOLCHAIN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90280" y="5367527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If Vivado 2019.2 is required, the RTL is plain Verilog-2001 with no IP and a project script is committed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Every deliverable has </a:t>
            </a:r>
            <a:r>
              <a:rPr sz="1300" b="0">
                <a:solidFill>
                  <a:srgbClr val="2F6FA8"/>
                </a:solidFill>
                <a:latin typeface="Arial"/>
              </a:rPr>
              <a:t>exactly one owner</a:t>
            </a:r>
            <a:r>
              <a:rPr sz="1300" b="0">
                <a:solidFill>
                  <a:srgbClr val="2A2419"/>
                </a:solidFill>
                <a:latin typeface="Arial"/>
              </a:rPr>
              <a:t>, and cross-review is by reading each other's work, not by silent edits.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02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9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143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 dirty="0">
                <a:solidFill>
                  <a:srgbClr val="2F6FA8"/>
                </a:solidFill>
                <a:latin typeface="Consolas"/>
              </a:rPr>
              <a:t>SPEAKER 2 OF 3  ·  [ </a:t>
            </a:r>
            <a:r>
              <a:rPr lang="en-TH" sz="850" b="1" spc="260" dirty="0">
                <a:solidFill>
                  <a:srgbClr val="2F6FA8"/>
                </a:solidFill>
                <a:latin typeface="Consolas"/>
              </a:rPr>
              <a:t>吴宏庆</a:t>
            </a:r>
            <a:r>
              <a:rPr sz="850" b="1" spc="260" dirty="0">
                <a:solidFill>
                  <a:srgbClr val="2F6FA8"/>
                </a:solidFill>
                <a:latin typeface="Consolas"/>
              </a:rPr>
              <a:t>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Coding — the RTL, and the toolchain it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691640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55C4C"/>
                </a:solidFill>
                <a:latin typeface="Arial"/>
              </a:rPr>
              <a:t>The course names Mars4_5 as the simulator, but Mars executes MIPS. Building a RISC-V machine meant building the tools to assemble and check it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" y="2194560"/>
            <a:ext cx="5852160" cy="37947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" y="2331720"/>
            <a:ext cx="5522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OWNED END TO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" y="2679191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3800" y="2651760"/>
            <a:ext cx="4215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All 19 modules: pipeline registers, datapath, hazard logic, CSR file, BHT, counters, memories, top level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" y="3236975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" y="3319271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ASSEMBLER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63800" y="3291839"/>
            <a:ext cx="4215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Two-pass, six formats, directives and pseudo-ops, emits a $readmemh image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784" y="3877056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2784" y="395935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3800" y="3931920"/>
            <a:ext cx="4215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A second implementation of the ISA in Python, emitting the commit trace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2784" y="4517136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2784" y="459943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63800" y="4572000"/>
            <a:ext cx="4215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The xsim batch flow and the non-project synthesis flow, both scripted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2784" y="5157216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2784" y="523951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FIXES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63800" y="5212080"/>
            <a:ext cx="42153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Every failure the tester raised, re-verified by their regression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2782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7412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F6FA8"/>
                </a:solidFill>
                <a:latin typeface="Arial"/>
              </a:rP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412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RTL modules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412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Verilog-2001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50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0480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861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480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lines of assembler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0480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asm.py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8918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3548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9A6410"/>
                </a:solidFill>
                <a:latin typeface="Arial"/>
              </a:rPr>
              <a:t>589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3548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lines of ISS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3548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iss.py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27824" y="3291839"/>
            <a:ext cx="4754880" cy="14173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92416" y="3428999"/>
            <a:ext cx="4425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DELIVERED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0704" y="3675887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•  19 synthesizable modules, no vendor IP, no block design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655C4C"/>
                </a:solidFill>
                <a:latin typeface="Arial"/>
              </a:rPr>
              <a:t>•  asm.py and iss.py, cross-validated against each other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655C4C"/>
                </a:solidFill>
                <a:latin typeface="Arial"/>
              </a:rPr>
              <a:t>•  sim/run.sh and vivado/synth.sh, reproducible from the shell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27824" y="4846320"/>
            <a:ext cx="4754880" cy="114300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92416" y="4983480"/>
            <a:ext cx="4425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WHERE TO LOOK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0704" y="5230368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Consolas"/>
              </a:rPr>
              <a:t>rtl/</a:t>
            </a:r>
            <a:r>
              <a:rPr sz="950" b="0">
                <a:solidFill>
                  <a:srgbClr val="655C4C"/>
                </a:solidFill>
                <a:latin typeface="Arial"/>
              </a:rPr>
              <a:t> and </a:t>
            </a:r>
            <a:r>
              <a:rPr sz="950" b="0">
                <a:solidFill>
                  <a:srgbClr val="655C4C"/>
                </a:solidFill>
                <a:latin typeface="Consolas"/>
              </a:rPr>
              <a:t>tools/</a:t>
            </a:r>
            <a:r>
              <a:rPr sz="950" b="0">
                <a:solidFill>
                  <a:srgbClr val="655C4C"/>
                </a:solidFill>
                <a:latin typeface="Arial"/>
              </a:rPr>
              <a:t>. The machine executes all 46 encodings and places and routes at </a:t>
            </a:r>
            <a:r>
              <a:rPr sz="950" b="1">
                <a:solidFill>
                  <a:srgbClr val="655C4C"/>
                </a:solidFill>
                <a:latin typeface="Arial"/>
              </a:rPr>
              <a:t>74 MHz</a:t>
            </a:r>
            <a:r>
              <a:rPr sz="950" b="0">
                <a:solidFill>
                  <a:srgbClr val="655C4C"/>
                </a:solidFill>
                <a:latin typeface="Arial"/>
              </a:rPr>
              <a:t> on the target part.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The assembler and the reference model were </a:t>
            </a:r>
            <a:r>
              <a:rPr sz="1300" b="0">
                <a:solidFill>
                  <a:srgbClr val="2F6FA8"/>
                </a:solidFill>
                <a:latin typeface="Arial"/>
              </a:rPr>
              <a:t>cross-validated against each other before any RTL existed</a:t>
            </a:r>
            <a:r>
              <a:rPr sz="1300" b="0">
                <a:solidFill>
                  <a:srgbClr val="2A2419"/>
                </a:solidFill>
                <a:latin typeface="Arial"/>
              </a:rPr>
              <a:t>, so the oracle was trustworthy on day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02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10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DATA HAZARDS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Forwarding: two distances, one priority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783080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8F8674"/>
                </a:solidFill>
                <a:latin typeface="Consolas"/>
              </a:rPr>
              <a:t>DISTANCE 1 — PRODUCER IS IN MEM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722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0728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4232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7736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1240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474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27224" y="2231136"/>
            <a:ext cx="3621024" cy="0"/>
          </a:xfrm>
          <a:prstGeom prst="line">
            <a:avLst/>
          </a:prstGeom>
          <a:ln w="6350">
            <a:solidFill>
              <a:srgbClr val="B7A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9904" y="237744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addi x5, x0, 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27224" y="2340864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30728" y="2340864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34232" y="2340864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37736" y="2340864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41240" y="2340864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" y="27797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add  x6, x5, x5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30728" y="2743200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34232" y="2743200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37736" y="2743200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41240" y="2743200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44744" y="2743200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21200" y="2596896"/>
            <a:ext cx="0" cy="146304"/>
          </a:xfrm>
          <a:prstGeom prst="line">
            <a:avLst/>
          </a:prstGeom>
          <a:ln w="19050">
            <a:solidFill>
              <a:srgbClr val="9A64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212640" y="2578608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>
                <a:solidFill>
                  <a:srgbClr val="9A6410"/>
                </a:solidFill>
                <a:latin typeface="Consolas"/>
              </a:rPr>
              <a:t>fwd = 2'b10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0624" y="1783080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8F8674"/>
                </a:solidFill>
                <a:latin typeface="Consolas"/>
              </a:rPr>
              <a:t>DISTANCE 2 — PRODUCER IS IN WB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794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1448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4952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98456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01960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0546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c6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787944" y="2231136"/>
            <a:ext cx="3621024" cy="0"/>
          </a:xfrm>
          <a:prstGeom prst="line">
            <a:avLst/>
          </a:prstGeom>
          <a:ln w="6350">
            <a:solidFill>
              <a:srgbClr val="B7A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370624" y="237744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addi x5, x0, 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87944" y="2340864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91448" y="2340864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94952" y="2340864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98456" y="2340864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01960" y="2340864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0624" y="27797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nop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91448" y="2743200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94952" y="2743200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98456" y="2743200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01960" y="2743200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805464" y="2743200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0624" y="318211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add  x6, x5, x5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94952" y="3145536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98456" y="3145536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01960" y="3145536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805464" y="3145536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0485424" y="2596896"/>
            <a:ext cx="0" cy="548640"/>
          </a:xfrm>
          <a:prstGeom prst="line">
            <a:avLst/>
          </a:prstGeom>
          <a:ln w="19050">
            <a:solidFill>
              <a:srgbClr val="9A64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0576864" y="2582065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dirty="0" err="1">
                <a:solidFill>
                  <a:srgbClr val="9A6410"/>
                </a:solidFill>
                <a:latin typeface="Consolas"/>
              </a:rPr>
              <a:t>fwd</a:t>
            </a:r>
            <a:r>
              <a:rPr sz="800" b="1" dirty="0">
                <a:solidFill>
                  <a:srgbClr val="9A6410"/>
                </a:solidFill>
                <a:latin typeface="Consolas"/>
              </a:rPr>
              <a:t> = 2'b01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096304" y="1737360"/>
            <a:ext cx="0" cy="219456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09904" y="4160520"/>
            <a:ext cx="10972800" cy="868680"/>
          </a:xfrm>
          <a:prstGeom prst="rect">
            <a:avLst/>
          </a:prstGeom>
          <a:solidFill>
            <a:srgbClr val="EFE2CC"/>
          </a:solidFill>
          <a:ln w="1587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4496" y="4288536"/>
            <a:ext cx="106436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9A6410"/>
                </a:solidFill>
                <a:latin typeface="Consolas"/>
              </a:rPr>
              <a:t>PRIORITY — WHEN BOTH MATCH, EX/MEM WINS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4496" y="4526280"/>
            <a:ext cx="106436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2A2419"/>
                </a:solidFill>
                <a:latin typeface="Arial"/>
              </a:rPr>
              <a:t>The instruction in MEM is the </a:t>
            </a:r>
            <a:r>
              <a:rPr sz="1000" b="1">
                <a:solidFill>
                  <a:srgbClr val="2A2419"/>
                </a:solidFill>
                <a:latin typeface="Arial"/>
              </a:rPr>
              <a:t>newer</a:t>
            </a:r>
            <a:r>
              <a:rPr sz="1000" b="0">
                <a:solidFill>
                  <a:srgbClr val="2A2419"/>
                </a:solidFill>
                <a:latin typeface="Arial"/>
              </a:rPr>
              <a:t> writer, so its value is the one the architecture says you read. Testing MEM/WB first resurrects the stale value.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4496" y="4764024"/>
            <a:ext cx="106436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x5 = 100   then   x5 = x5 + 1   then   read x5      must see 101, while 100 is still sitting in MEM/WB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A producer whose destination is </a:t>
            </a:r>
            <a:r>
              <a:rPr sz="1300" b="0">
                <a:solidFill>
                  <a:srgbClr val="2F6FA8"/>
                </a:solidFill>
                <a:latin typeface="Consolas"/>
              </a:rPr>
              <a:t>x0</a:t>
            </a:r>
            <a:r>
              <a:rPr sz="1300" b="0">
                <a:solidFill>
                  <a:srgbClr val="2A2419"/>
                </a:solidFill>
                <a:latin typeface="Arial"/>
              </a:rPr>
              <a:t> wrote nothing, so it is never forwarded. Otherwise x0 would read non-zero for exactly one instruction.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02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11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THE TWO HAZARDS FORWARDING CANNOT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One cycle for a load-use, two for a taken 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783080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6B54A8"/>
                </a:solidFill>
                <a:latin typeface="Consolas"/>
              </a:rPr>
              <a:t>LOAD-USE INTERLOCK — 1 STALL 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722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0728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4232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7736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1240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474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48248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c7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27224" y="2231136"/>
            <a:ext cx="4224528" cy="0"/>
          </a:xfrm>
          <a:prstGeom prst="line">
            <a:avLst/>
          </a:prstGeom>
          <a:ln w="6350">
            <a:solidFill>
              <a:srgbClr val="B7A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9904" y="237744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lw  x7, 0(x5)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27224" y="2340864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30728" y="2340864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34232" y="2340864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37736" y="2340864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41240" y="2340864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4" y="27797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add x8, x7, x0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30728" y="2743200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4232" y="2743200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37736" y="2743200"/>
            <a:ext cx="566928" cy="256032"/>
          </a:xfrm>
          <a:prstGeom prst="rect">
            <a:avLst/>
          </a:prstGeom>
          <a:solidFill>
            <a:srgbClr val="6B5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41240" y="2743200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4744" y="2743200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48248" y="2743200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" y="318211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sub x9, x8, x1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34232" y="3145536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37736" y="3145536"/>
            <a:ext cx="566928" cy="256032"/>
          </a:xfrm>
          <a:prstGeom prst="rect">
            <a:avLst/>
          </a:prstGeom>
          <a:solidFill>
            <a:srgbClr val="6B5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41240" y="3145536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44744" y="3145536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48248" y="3145536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24704" y="2596896"/>
            <a:ext cx="0" cy="146304"/>
          </a:xfrm>
          <a:prstGeom prst="line">
            <a:avLst/>
          </a:prstGeom>
          <a:ln w="19050">
            <a:solidFill>
              <a:srgbClr val="9A64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09904" y="3611880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6B54A8"/>
                </a:solidFill>
                <a:latin typeface="Consolas"/>
              </a:rPr>
              <a:t>violet = held. PC and IF/ID freeze, ID/EX takes a bubble.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sz="850" b="0">
                <a:solidFill>
                  <a:srgbClr val="6B54A8"/>
                </a:solidFill>
                <a:latin typeface="Consolas"/>
              </a:rPr>
              <a:t>One cycle is always enough. By then the load is in WB.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96304" y="1737360"/>
            <a:ext cx="0" cy="219456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370624" y="1783080"/>
            <a:ext cx="4937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A83226"/>
                </a:solidFill>
                <a:latin typeface="Consolas"/>
              </a:rPr>
              <a:t>TAKEN BRANCH — 2 BUBBLES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0506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08568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12072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5576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9080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22584" y="202996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c6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605064" y="2231136"/>
            <a:ext cx="3621024" cy="0"/>
          </a:xfrm>
          <a:prstGeom prst="line">
            <a:avLst/>
          </a:prstGeom>
          <a:ln w="6350">
            <a:solidFill>
              <a:srgbClr val="B7A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370624" y="237744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beq (taken)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05064" y="2340864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08568" y="2340864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12072" y="2340864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5576" y="2340864"/>
            <a:ext cx="566928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19080" y="2340864"/>
            <a:ext cx="566928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70624" y="2779776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branch + 4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08568" y="2743200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12072" y="2743200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5576" y="2743200"/>
            <a:ext cx="566928" cy="256032"/>
          </a:xfrm>
          <a:prstGeom prst="rect">
            <a:avLst/>
          </a:prstGeom>
          <a:noFill/>
          <a:ln w="12700">
            <a:solidFill>
              <a:srgbClr val="A8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15576" y="2743200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226"/>
                </a:solidFill>
                <a:latin typeface="Consolas"/>
              </a:rPr>
              <a:t>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70624" y="3182112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branch + 8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812072" y="3145536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15576" y="3145536"/>
            <a:ext cx="566928" cy="256032"/>
          </a:xfrm>
          <a:prstGeom prst="rect">
            <a:avLst/>
          </a:prstGeom>
          <a:noFill/>
          <a:ln w="12700">
            <a:solidFill>
              <a:srgbClr val="A8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415576" y="3145536"/>
            <a:ext cx="566928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226"/>
                </a:solidFill>
                <a:latin typeface="Consolas"/>
              </a:rPr>
              <a:t>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70624" y="35844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A2419"/>
                </a:solidFill>
                <a:latin typeface="Consolas"/>
              </a:rPr>
              <a:t>target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415576" y="3547872"/>
            <a:ext cx="566928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19080" y="3547872"/>
            <a:ext cx="566928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622584" y="3547872"/>
            <a:ext cx="566928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20632" y="2157984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A83226"/>
                </a:solidFill>
                <a:latin typeface="Consolas"/>
              </a:rPr>
              <a:t>resolved here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9904" y="4160520"/>
            <a:ext cx="10972800" cy="45720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74496" y="4288536"/>
            <a:ext cx="1064361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spc="120">
                <a:solidFill>
                  <a:srgbClr val="8F8674"/>
                </a:solidFill>
                <a:latin typeface="Consolas"/>
              </a:rPr>
              <a:t>COST    </a:t>
            </a:r>
            <a:r>
              <a:rPr sz="900" b="0">
                <a:solidFill>
                  <a:srgbClr val="2A2419"/>
                </a:solidFill>
                <a:latin typeface="Consolas"/>
              </a:rPr>
              <a:t>load-use 1 stall        jal 1 bubble        taken branch 2        jalr 2        ecall / interrupt / mret 2</a:t>
            </a:r>
            <a:r>
              <a:rPr sz="900" b="0">
                <a:solidFill>
                  <a:srgbClr val="8F8674"/>
                </a:solidFill>
                <a:latin typeface="Consolas"/>
              </a:rPr>
              <a:t>        wrong-path slots never write and never retire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A redirect always overrides a stall: the instruction that raised the stall is </a:t>
            </a:r>
            <a:r>
              <a:rPr sz="1300" b="0">
                <a:solidFill>
                  <a:srgbClr val="2F6FA8"/>
                </a:solidFill>
                <a:latin typeface="Arial"/>
              </a:rPr>
              <a:t>being killed anyway</a:t>
            </a:r>
            <a:r>
              <a:rPr sz="1300" b="0">
                <a:solidFill>
                  <a:srgbClr val="2A2419"/>
                </a:solidFill>
                <a:latin typeface="Arial"/>
              </a:rPr>
              <a:t>, so waiting for it would deadlock the redirect.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02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12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BONUS A — BRANCH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64 two-bit counters, and an honest cost table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88912" y="1764791"/>
            <a:ext cx="0" cy="1133857"/>
          </a:xfrm>
          <a:prstGeom prst="line">
            <a:avLst/>
          </a:prstGeom>
          <a:ln w="9525">
            <a:solidFill>
              <a:srgbClr val="B7AA8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04464" y="1874519"/>
            <a:ext cx="1417320" cy="566928"/>
          </a:xfrm>
          <a:prstGeom prst="rect">
            <a:avLst/>
          </a:prstGeom>
          <a:solidFill>
            <a:srgbClr val="F7F3E8"/>
          </a:solidFill>
          <a:ln w="19050">
            <a:solidFill>
              <a:srgbClr val="B7A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04464" y="194767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4464" y="22037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Arial"/>
              </a:rPr>
              <a:t>strongly not taken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21784" y="2039112"/>
            <a:ext cx="502920" cy="0"/>
          </a:xfrm>
          <a:prstGeom prst="line">
            <a:avLst/>
          </a:prstGeom>
          <a:ln w="15875">
            <a:solidFill>
              <a:srgbClr val="2F6F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221784" y="2276856"/>
            <a:ext cx="502920" cy="0"/>
          </a:xfrm>
          <a:prstGeom prst="line">
            <a:avLst/>
          </a:prstGeom>
          <a:ln w="15875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21784" y="1819655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2F6FA8"/>
                </a:solidFill>
                <a:latin typeface="Consolas"/>
              </a:rPr>
              <a:t>taken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1784" y="23317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not taken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24704" y="1874519"/>
            <a:ext cx="1417320" cy="566928"/>
          </a:xfrm>
          <a:prstGeom prst="rect">
            <a:avLst/>
          </a:prstGeom>
          <a:solidFill>
            <a:srgbClr val="F7F3E8"/>
          </a:solidFill>
          <a:ln w="19050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4704" y="194767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4704" y="22037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Arial"/>
              </a:rPr>
              <a:t>weakly not taken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42024" y="2039112"/>
            <a:ext cx="502920" cy="0"/>
          </a:xfrm>
          <a:prstGeom prst="line">
            <a:avLst/>
          </a:prstGeom>
          <a:ln w="15875">
            <a:solidFill>
              <a:srgbClr val="2F6F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6142024" y="2276856"/>
            <a:ext cx="502920" cy="0"/>
          </a:xfrm>
          <a:prstGeom prst="line">
            <a:avLst/>
          </a:prstGeom>
          <a:ln w="15875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142024" y="1819655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2F6FA8"/>
                </a:solidFill>
                <a:latin typeface="Consolas"/>
              </a:rPr>
              <a:t>taken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2024" y="23317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not taken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44944" y="1874519"/>
            <a:ext cx="1417320" cy="566928"/>
          </a:xfrm>
          <a:prstGeom prst="rect">
            <a:avLst/>
          </a:prstGeom>
          <a:solidFill>
            <a:srgbClr val="DCE6F0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44944" y="194767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4944" y="22037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Arial"/>
              </a:rPr>
              <a:t>weakly taken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62264" y="2039112"/>
            <a:ext cx="502920" cy="0"/>
          </a:xfrm>
          <a:prstGeom prst="line">
            <a:avLst/>
          </a:prstGeom>
          <a:ln w="15875">
            <a:solidFill>
              <a:srgbClr val="2F6F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062264" y="2276856"/>
            <a:ext cx="502920" cy="0"/>
          </a:xfrm>
          <a:prstGeom prst="line">
            <a:avLst/>
          </a:prstGeom>
          <a:ln w="15875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62264" y="1819655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2F6FA8"/>
                </a:solidFill>
                <a:latin typeface="Consolas"/>
              </a:rPr>
              <a:t>taken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2264" y="23317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8F8674"/>
                </a:solidFill>
                <a:latin typeface="Consolas"/>
              </a:rPr>
              <a:t>not taken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65184" y="1874519"/>
            <a:ext cx="1417320" cy="566928"/>
          </a:xfrm>
          <a:prstGeom prst="rect">
            <a:avLst/>
          </a:prstGeom>
          <a:solidFill>
            <a:srgbClr val="DCE6F0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65184" y="194767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2A2419"/>
                </a:solidFill>
                <a:latin typeface="Consolas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5184" y="22037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Arial"/>
              </a:rPr>
              <a:t>strongly taken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7584" y="2587752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predict NOT TAKEN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2064" y="2587752"/>
            <a:ext cx="1463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2F6FA8"/>
                </a:solidFill>
                <a:latin typeface="Consolas"/>
              </a:rPr>
              <a:t>predict TAKEN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33364" y="1563623"/>
            <a:ext cx="0" cy="310896"/>
          </a:xfrm>
          <a:prstGeom prst="line">
            <a:avLst/>
          </a:prstGeom>
          <a:ln w="15875">
            <a:solidFill>
              <a:srgbClr val="9A641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724704" y="1399031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9A6410"/>
                </a:solidFill>
                <a:latin typeface="Consolas"/>
              </a:rPr>
              <a:t>reset state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904" y="1874519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64 entries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index pc[7:2]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untagged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850" b="0">
                <a:solidFill>
                  <a:srgbClr val="655C4C"/>
                </a:solidFill>
                <a:latin typeface="Consolas"/>
              </a:rPr>
              <a:t>prediction = state[1]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904" y="2880360"/>
            <a:ext cx="6126480" cy="3017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4496" y="3017520"/>
            <a:ext cx="57972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WHAT IT COSTS, BY OUTCOME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2784" y="333756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Prediction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10104" y="3337560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Outcome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7424" y="3337560"/>
            <a:ext cx="777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Bubbles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04664" y="3337560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Why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92784" y="3584448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92784" y="364845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not taken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10104" y="364845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not taken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27424" y="3648456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3E7A4A"/>
                </a:solidFill>
                <a:latin typeface="Consolas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69256" y="364845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the fall-through was already being fetched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92784" y="3895344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92784" y="39593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taken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10104" y="395935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taken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27424" y="3959352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2F6FA8"/>
                </a:solidFill>
                <a:latin typeface="Consolas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69256" y="395935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the ID redirect kills one instruction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92784" y="4206240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92784" y="427024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not taken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10104" y="427024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taken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27424" y="427024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A83226"/>
                </a:solidFill>
                <a:latin typeface="Consolas"/>
              </a:rPr>
              <a:t>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69256" y="427024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EX redirect kills ID and IF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792784" y="4517136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92784" y="458114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taken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10104" y="458114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not taken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27424" y="4581144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A83226"/>
                </a:solidFill>
                <a:latin typeface="Consolas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69256" y="4581144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wrong target fetched, then re-fetch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92784" y="4828031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7010704" y="2880360"/>
            <a:ext cx="4572000" cy="3017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175296" y="3017520"/>
            <a:ext cx="4242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WHERE EACH STEP HAPPENS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93584" y="3364991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LOOKUP — IF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93200" y="3337560"/>
            <a:ext cx="27066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indexed by the fetch PC, in parallel with the fetch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193584" y="3785616"/>
            <a:ext cx="42062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193584" y="386791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CARRY — IF/ID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93200" y="3840480"/>
            <a:ext cx="27066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the counter state travels with the instruction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193584" y="4288536"/>
            <a:ext cx="42062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193584" y="437083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ACT — ID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93200" y="4343400"/>
            <a:ext cx="27066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redirect to PC + immB, the 1-bubble path jal uses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7193584" y="4791456"/>
            <a:ext cx="42062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193584" y="487375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RESOLVE — EX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93200" y="4846320"/>
            <a:ext cx="27066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compare with the real outcome; flush 2 on a mispredict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193584" y="5294376"/>
            <a:ext cx="420624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7193584" y="53766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UPDATE — EX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93200" y="5349240"/>
            <a:ext cx="270662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A2419"/>
                </a:solidFill>
                <a:latin typeface="Arial"/>
              </a:rPr>
              <a:t>saturating increment or decrement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There is no target buffer. The target is PC + immB, which ID already computes. That saves a tagged CAM and </a:t>
            </a:r>
            <a:r>
              <a:rPr sz="1300" b="0">
                <a:solidFill>
                  <a:srgbClr val="2F6FA8"/>
                </a:solidFill>
                <a:latin typeface="Arial"/>
              </a:rPr>
              <a:t>costs one bubble on a correct taken prediction</a:t>
            </a:r>
            <a:r>
              <a:rPr sz="1300" b="0">
                <a:solidFill>
                  <a:srgbClr val="2A241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02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13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BONUS B — INTERRUPTS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The trap point is EX, so mepc is always a real PC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1464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8120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4776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1432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8088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4744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21400" y="17830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c7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61464" y="1984248"/>
            <a:ext cx="4736592" cy="0"/>
          </a:xfrm>
          <a:prstGeom prst="line">
            <a:avLst/>
          </a:prstGeom>
          <a:ln w="6350">
            <a:solidFill>
              <a:srgbClr val="B7AA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996488" y="1984248"/>
            <a:ext cx="676656" cy="2359152"/>
          </a:xfrm>
          <a:prstGeom prst="rect">
            <a:avLst/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9904" y="212140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I(n−2)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61464" y="2093976"/>
            <a:ext cx="640080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8120" y="2093976"/>
            <a:ext cx="640080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4776" y="2093976"/>
            <a:ext cx="640080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0936" y="2121408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3E7A4A"/>
                </a:solidFill>
                <a:latin typeface="Consolas"/>
              </a:rPr>
              <a:t>retires normally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" y="250545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I(n−1)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61464" y="2478024"/>
            <a:ext cx="640080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8120" y="2478024"/>
            <a:ext cx="640080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4776" y="2478024"/>
            <a:ext cx="640080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91432" y="2478024"/>
            <a:ext cx="640080" cy="256032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0936" y="250545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3E7A4A"/>
                </a:solidFill>
                <a:latin typeface="Consolas"/>
              </a:rPr>
              <a:t>retires normally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" y="2889503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A83226"/>
                </a:solidFill>
                <a:latin typeface="Consolas"/>
              </a:rPr>
              <a:t>I(n)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61464" y="2862072"/>
            <a:ext cx="640080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38120" y="2862072"/>
            <a:ext cx="640080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4776" y="2862072"/>
            <a:ext cx="640080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91432" y="2862072"/>
            <a:ext cx="640080" cy="256032"/>
          </a:xfrm>
          <a:prstGeom prst="rect">
            <a:avLst/>
          </a:prstGeom>
          <a:noFill/>
          <a:ln w="12700">
            <a:solidFill>
              <a:srgbClr val="A8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91432" y="2862072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226"/>
                </a:solidFill>
                <a:latin typeface="Consolas"/>
              </a:rPr>
              <a:t>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0936" y="2889503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A83226"/>
                </a:solidFill>
                <a:latin typeface="Consolas"/>
              </a:rPr>
              <a:t>SQUASHED — never retires, never traced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904" y="3273551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I(n+1)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8120" y="3246120"/>
            <a:ext cx="640080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4776" y="3246120"/>
            <a:ext cx="640080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91432" y="3246120"/>
            <a:ext cx="640080" cy="256032"/>
          </a:xfrm>
          <a:prstGeom prst="rect">
            <a:avLst/>
          </a:prstGeom>
          <a:noFill/>
          <a:ln w="12700">
            <a:solidFill>
              <a:srgbClr val="A8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91432" y="3246120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226"/>
                </a:solidFill>
                <a:latin typeface="Consolas"/>
              </a:rPr>
              <a:t>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0936" y="3273551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killed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904" y="3657599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I(n+2)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4776" y="3630168"/>
            <a:ext cx="640080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91432" y="3630168"/>
            <a:ext cx="640080" cy="256032"/>
          </a:xfrm>
          <a:prstGeom prst="rect">
            <a:avLst/>
          </a:prstGeom>
          <a:noFill/>
          <a:ln w="12700">
            <a:solidFill>
              <a:srgbClr val="A8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91432" y="3630168"/>
            <a:ext cx="6400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A83226"/>
                </a:solidFill>
                <a:latin typeface="Consolas"/>
              </a:rPr>
              <a:t>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0936" y="3657599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killed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904" y="404164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2F6FA8"/>
                </a:solidFill>
                <a:latin typeface="Consolas"/>
              </a:rPr>
              <a:t>ISR[0]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91432" y="4014216"/>
            <a:ext cx="640080" cy="256032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68088" y="4014216"/>
            <a:ext cx="640080" cy="256032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44744" y="4014216"/>
            <a:ext cx="640080" cy="256032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21400" y="4014216"/>
            <a:ext cx="640080" cy="256032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0936" y="4041648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2F6FA8"/>
                </a:solidFill>
                <a:latin typeface="Consolas"/>
              </a:rPr>
              <a:t>handler at mtvec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334816" y="1984248"/>
            <a:ext cx="0" cy="2304288"/>
          </a:xfrm>
          <a:prstGeom prst="line">
            <a:avLst/>
          </a:prstGeom>
          <a:ln w="15875">
            <a:solidFill>
              <a:srgbClr val="9A641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09904" y="4480560"/>
            <a:ext cx="10972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Consolas"/>
              </a:rPr>
              <a:t>irq sampled with a valid instruction in EX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904" y="4681728"/>
            <a:ext cx="10972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Consolas"/>
              </a:rPr>
              <a:t>mepc ← PC of I(n)   ·   mcause ← 0x8000000B   ·   MPIE ← MIE, MIE ← 0   ·   PC ← mtvec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9904" y="4983480"/>
            <a:ext cx="3523488" cy="1143000"/>
          </a:xfrm>
          <a:prstGeom prst="rect">
            <a:avLst/>
          </a:prstGeom>
          <a:solidFill>
            <a:srgbClr val="F7F3E8"/>
          </a:solidFill>
          <a:ln w="12700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4496" y="5120640"/>
            <a:ext cx="319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ECALL — SYNCHRONOUS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4496" y="5376672"/>
            <a:ext cx="319430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55C4C"/>
                </a:solidFill>
                <a:latin typeface="Consolas"/>
              </a:rPr>
              <a:t>mcause = 11</a:t>
            </a:r>
            <a:r>
              <a:rPr sz="900" b="0">
                <a:solidFill>
                  <a:srgbClr val="655C4C"/>
                </a:solidFill>
                <a:latin typeface="Arial"/>
              </a:rPr>
              <a:t>. mepc points </a:t>
            </a:r>
            <a:r>
              <a:rPr sz="900" b="1">
                <a:solidFill>
                  <a:srgbClr val="655C4C"/>
                </a:solidFill>
                <a:latin typeface="Arial"/>
              </a:rPr>
              <a:t>at the ecall</a:t>
            </a:r>
            <a:r>
              <a:rPr sz="900" b="0">
                <a:solidFill>
                  <a:srgbClr val="655C4C"/>
                </a:solidFill>
                <a:latin typeface="Arial"/>
              </a:rPr>
              <a:t>, which has not completed. The handler </a:t>
            </a:r>
            <a:r>
              <a:rPr sz="900" b="1">
                <a:solidFill>
                  <a:srgbClr val="655C4C"/>
                </a:solidFill>
                <a:latin typeface="Arial"/>
              </a:rPr>
              <a:t>must add 4</a:t>
            </a:r>
            <a:r>
              <a:rPr sz="900" b="0">
                <a:solidFill>
                  <a:srgbClr val="655C4C"/>
                </a:solidFill>
                <a:latin typeface="Arial"/>
              </a:rPr>
              <a:t> before mret.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34560" y="4983480"/>
            <a:ext cx="3523488" cy="114300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499152" y="5120640"/>
            <a:ext cx="319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INTERRUPT — ASYNCHRONOUS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99152" y="5376672"/>
            <a:ext cx="319430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55C4C"/>
                </a:solidFill>
                <a:latin typeface="Consolas"/>
              </a:rPr>
              <a:t>mcause = 0x8000000B</a:t>
            </a:r>
            <a:r>
              <a:rPr sz="900" b="0">
                <a:solidFill>
                  <a:srgbClr val="655C4C"/>
                </a:solidFill>
                <a:latin typeface="Arial"/>
              </a:rPr>
              <a:t>. mepc points at an instruction that </a:t>
            </a:r>
            <a:r>
              <a:rPr sz="900" b="1">
                <a:solidFill>
                  <a:srgbClr val="655C4C"/>
                </a:solidFill>
                <a:latin typeface="Arial"/>
              </a:rPr>
              <a:t>never executed</a:t>
            </a:r>
            <a:r>
              <a:rPr sz="900" b="0">
                <a:solidFill>
                  <a:srgbClr val="655C4C"/>
                </a:solidFill>
                <a:latin typeface="Arial"/>
              </a:rPr>
              <a:t>. The handler </a:t>
            </a:r>
            <a:r>
              <a:rPr sz="900" b="1">
                <a:solidFill>
                  <a:srgbClr val="655C4C"/>
                </a:solidFill>
                <a:latin typeface="Arial"/>
              </a:rPr>
              <a:t>must not add 4</a:t>
            </a:r>
            <a:r>
              <a:rPr sz="900" b="0">
                <a:solidFill>
                  <a:srgbClr val="655C4C"/>
                </a:solidFill>
                <a:latin typeface="Arial"/>
              </a:rPr>
              <a:t>. mret re-runs it.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059216" y="4983480"/>
            <a:ext cx="3523488" cy="114300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223808" y="5120640"/>
            <a:ext cx="319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LEVEL, NOT PULSE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3808" y="5376672"/>
            <a:ext cx="3194304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55C4C"/>
                </a:solidFill>
                <a:latin typeface="Consolas"/>
              </a:rPr>
              <a:t>irq</a:t>
            </a:r>
            <a:r>
              <a:rPr sz="900" b="0">
                <a:solidFill>
                  <a:srgbClr val="655C4C"/>
                </a:solidFill>
                <a:latin typeface="Arial"/>
              </a:rPr>
              <a:t> is qualified by mstatus.MIE and mie.MEIE. A request raised inside the handler is </a:t>
            </a:r>
            <a:r>
              <a:rPr sz="900" b="1">
                <a:solidFill>
                  <a:srgbClr val="655C4C"/>
                </a:solidFill>
                <a:latin typeface="Arial"/>
              </a:rPr>
              <a:t>held, not lost</a:t>
            </a:r>
            <a:r>
              <a:rPr sz="900" b="0">
                <a:solidFill>
                  <a:srgbClr val="655C4C"/>
                </a:solidFill>
                <a:latin typeface="Arial"/>
              </a:rPr>
              <a:t>, and taken when mret restores MIE.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That asymmetry, </a:t>
            </a:r>
            <a:r>
              <a:rPr sz="1300" b="0">
                <a:solidFill>
                  <a:srgbClr val="2F6FA8"/>
                </a:solidFill>
                <a:latin typeface="Arial"/>
              </a:rPr>
              <a:t>ecall advances mepc and an interrupt must not</a:t>
            </a:r>
            <a:r>
              <a:rPr sz="1300" b="0">
                <a:solidFill>
                  <a:srgbClr val="2A2419"/>
                </a:solidFill>
                <a:latin typeface="Arial"/>
              </a:rPr>
              <a:t>, is the single most common trap-handling bug.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02 ·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14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SYNTHESIS — VIVADO 2026.1, xc7a35tcpg236-1, POST PLACE-AND-ROUTE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Setup timing met at 74 MHz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2212848" cy="87782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208" y="1901952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1,461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" y="233172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" y="2458037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7.0 % of the device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69056" y="1783080"/>
            <a:ext cx="2212848" cy="87782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15360" y="1901952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819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5360" y="233172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flip-flops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5360" y="2458037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2.0 % of the device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904" y="2770632"/>
            <a:ext cx="2212848" cy="87782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6208" y="288950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" y="33192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block 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" y="3445589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IMEM + DMEM, 4 % of 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69056" y="2770632"/>
            <a:ext cx="2212848" cy="877824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5360" y="2889504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5360" y="33192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LUTs as memory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15360" y="3445589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the 32x32 register file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56224" y="1783080"/>
            <a:ext cx="6126480" cy="1911095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20816" y="1920240"/>
            <a:ext cx="57972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CONSTRAINT SWEEP — WHERE IT CLOSES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39104" y="221284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Configuration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7904" y="2212848"/>
            <a:ext cx="1051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Period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9464" y="2212848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WNS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584" y="2212848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Failing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48264" y="221284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Result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39104" y="2459736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39104" y="252374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base machine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7904" y="2523744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10.0 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19464" y="252374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−2.483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584" y="252374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423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48264" y="252374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A83226"/>
                </a:solidFill>
                <a:latin typeface="Arial"/>
              </a:rPr>
              <a:t>not met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39104" y="2770632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639104" y="2834639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full 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67904" y="2834639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10.0 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19464" y="2834639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−3.235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9584" y="2834639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555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48264" y="283463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A83226"/>
                </a:solidFill>
                <a:latin typeface="Arial"/>
              </a:rPr>
              <a:t>not met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639104" y="3081527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639104" y="3145535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full design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67904" y="3145535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12.5 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19464" y="3145535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−0.755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79584" y="3145535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306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48264" y="314553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A83226"/>
                </a:solidFill>
                <a:latin typeface="Arial"/>
              </a:rPr>
              <a:t>not met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639104" y="3392423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5639104" y="3419855"/>
            <a:ext cx="5760720" cy="274320"/>
          </a:xfrm>
          <a:prstGeom prst="rect">
            <a:avLst/>
          </a:prstGeom>
          <a:solidFill>
            <a:srgbClr val="DC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639104" y="3456431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2A2419"/>
                </a:solidFill>
                <a:latin typeface="Consolas"/>
              </a:rPr>
              <a:t>full design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67904" y="3456431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2A2419"/>
                </a:solidFill>
                <a:latin typeface="Consolas"/>
              </a:rPr>
              <a:t>13.5 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19464" y="3456431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2A2419"/>
                </a:solidFill>
                <a:latin typeface="Consolas"/>
              </a:rPr>
              <a:t>+0.052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79584" y="3456431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2A2419"/>
                </a:solidFill>
                <a:latin typeface="Consolas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48264" y="345643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3E7A4A"/>
                </a:solidFill>
                <a:latin typeface="Arial"/>
              </a:rPr>
              <a:t>met — 74 MHz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39104" y="3703319"/>
            <a:ext cx="576072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639104" y="3785615"/>
            <a:ext cx="57607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The three points agree to within 1.6 % on 1/(T − WNS). The speed is a property of the design, not of the constraint. Register-to-register hold is met at every point.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9904" y="3931920"/>
            <a:ext cx="10972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8F8674"/>
                </a:solidFill>
                <a:latin typeface="Consolas"/>
              </a:rPr>
              <a:t>CRITICAL PATH — A LOAD FEEDING A BRANCH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9904" y="4169663"/>
            <a:ext cx="1706879" cy="658368"/>
          </a:xfrm>
          <a:prstGeom prst="rect">
            <a:avLst/>
          </a:prstGeom>
          <a:solidFill>
            <a:srgbClr val="EFE2CC"/>
          </a:solidFill>
          <a:ln w="19050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01344" y="4242816"/>
            <a:ext cx="1523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A2419"/>
                </a:solidFill>
                <a:latin typeface="Consolas"/>
              </a:rPr>
              <a:t>DMEM block RAM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2A2419"/>
                </a:solidFill>
                <a:latin typeface="Consolas"/>
              </a:rPr>
              <a:t>clock to output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1344" y="4626864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9A6410"/>
                </a:solidFill>
                <a:latin typeface="Consolas"/>
              </a:rPr>
              <a:t>2.454 ns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316784" y="4498848"/>
            <a:ext cx="146304" cy="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2463088" y="4169663"/>
            <a:ext cx="1706879" cy="658368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554528" y="4242816"/>
            <a:ext cx="1523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A2419"/>
                </a:solidFill>
                <a:latin typeface="Consolas"/>
              </a:rPr>
              <a:t>byte-lane select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2A2419"/>
                </a:solidFill>
                <a:latin typeface="Consolas"/>
              </a:rPr>
              <a:t>+ sign extension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54528" y="4626864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in WB · 2 x LUT6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169968" y="4498848"/>
            <a:ext cx="146304" cy="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4316272" y="4169663"/>
            <a:ext cx="1706879" cy="658368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407712" y="4242816"/>
            <a:ext cx="1523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A2419"/>
                </a:solidFill>
                <a:latin typeface="Consolas"/>
              </a:rPr>
              <a:t>MEM/WB to EX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2A2419"/>
                </a:solidFill>
                <a:latin typeface="Consolas"/>
              </a:rPr>
              <a:t>forwarding mux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7712" y="4626864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load into a branch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023152" y="4498848"/>
            <a:ext cx="146304" cy="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69456" y="4169663"/>
            <a:ext cx="1706879" cy="658368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60896" y="4242816"/>
            <a:ext cx="1523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A2419"/>
                </a:solidFill>
                <a:latin typeface="Consolas"/>
              </a:rPr>
              <a:t>branch comparator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2A2419"/>
                </a:solidFill>
                <a:latin typeface="Consolas"/>
              </a:rPr>
              <a:t>branch_unit.v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60896" y="4626864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3 x CARRY4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876336" y="4498848"/>
            <a:ext cx="146304" cy="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8022640" y="4169663"/>
            <a:ext cx="1706879" cy="658368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114080" y="4242816"/>
            <a:ext cx="1523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A2419"/>
                </a:solidFill>
                <a:latin typeface="Consolas"/>
              </a:rPr>
              <a:t>redirect / flush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2A2419"/>
                </a:solidFill>
                <a:latin typeface="Consolas"/>
              </a:rPr>
              <a:t>reduction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729520" y="4498848"/>
            <a:ext cx="146304" cy="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9875824" y="4169663"/>
            <a:ext cx="1706879" cy="658368"/>
          </a:xfrm>
          <a:prstGeom prst="rect">
            <a:avLst/>
          </a:prstGeom>
          <a:solidFill>
            <a:srgbClr val="F7F3E8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967264" y="4242816"/>
            <a:ext cx="15239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2A2419"/>
                </a:solidFill>
                <a:latin typeface="Consolas"/>
              </a:rPr>
              <a:t>PC register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800" b="0">
                <a:solidFill>
                  <a:srgbClr val="2A2419"/>
                </a:solidFill>
                <a:latin typeface="Consolas"/>
              </a:rPr>
              <a:t>clock enable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67264" y="4626864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2F6FA8"/>
                </a:solidFill>
                <a:latin typeface="Consolas"/>
              </a:rPr>
              <a:t>endpoint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904" y="4937760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2A2419"/>
                </a:solidFill>
                <a:latin typeface="Consolas"/>
              </a:rPr>
              <a:t>12.982 ns</a:t>
            </a:r>
            <a:r>
              <a:rPr sz="900" b="0">
                <a:solidFill>
                  <a:srgbClr val="2A2419"/>
                </a:solidFill>
                <a:latin typeface="Consolas"/>
              </a:rPr>
              <a:t> total        15 logic levels        65 % routing        </a:t>
            </a:r>
            <a:r>
              <a:rPr sz="900" b="0">
                <a:solidFill>
                  <a:srgbClr val="8F8674"/>
                </a:solidFill>
                <a:latin typeface="Consolas"/>
              </a:rPr>
              <a:t>Fixes designed: register the lane extension into WB · precompute the forwarding match bits in ID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74 MHz is measured, not estimated, and the path that limits it is identified. That makes the two planned fixes a </a:t>
            </a:r>
            <a:r>
              <a:rPr sz="1300" b="0">
                <a:solidFill>
                  <a:srgbClr val="2F6FA8"/>
                </a:solidFill>
                <a:latin typeface="Arial"/>
              </a:rPr>
              <a:t>scheduled task rather than a hope</a:t>
            </a:r>
            <a:r>
              <a:rPr sz="1300" b="0">
                <a:solidFill>
                  <a:srgbClr val="2A2419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03 ·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15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143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 dirty="0">
                <a:solidFill>
                  <a:srgbClr val="2F6FA8"/>
                </a:solidFill>
                <a:latin typeface="Consolas"/>
              </a:rPr>
              <a:t>SPEAKER 3 OF 3  ·  [ </a:t>
            </a:r>
            <a:r>
              <a:rPr lang="en-TH" sz="850" b="1" spc="260" dirty="0">
                <a:solidFill>
                  <a:srgbClr val="2F6FA8"/>
                </a:solidFill>
                <a:latin typeface="Consolas"/>
              </a:rPr>
              <a:t>王伟成</a:t>
            </a:r>
            <a:r>
              <a:rPr sz="850" b="1" spc="260" dirty="0">
                <a:solidFill>
                  <a:srgbClr val="2F6FA8"/>
                </a:solidFill>
                <a:latin typeface="Consolas"/>
              </a:rPr>
              <a:t>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Testing — proving it, and measuring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1691640"/>
            <a:ext cx="10972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55C4C"/>
                </a:solidFill>
                <a:latin typeface="Arial"/>
              </a:rPr>
              <a:t>Nothing here is judged by looking at a waveform. Every test states its own verdict, and every golden value comes from the reference model rather than from a person.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" y="2194560"/>
            <a:ext cx="5852160" cy="37947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4496" y="2331720"/>
            <a:ext cx="5522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OWNED END TO 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" y="2679191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5240" y="2651760"/>
            <a:ext cx="412394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The three-tier strategy and the pass criteria for each tier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2784" y="3127248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2784" y="320954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UNIT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55240" y="3182112"/>
            <a:ext cx="412394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A testbench for every module that is not pure wiring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92784" y="3657599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2784" y="3739896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PROGRAMS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5240" y="3712463"/>
            <a:ext cx="412394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One program per encoding, plus nine directed hazard programs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2784" y="4187952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2784" y="4270248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DIFFING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55240" y="4242816"/>
            <a:ext cx="412394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The RTL-versus-reference trace harness and the regression driver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2784" y="4718304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2784" y="4800600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MEASUREMENT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55240" y="4773168"/>
            <a:ext cx="412394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CPI with forwarding on and off, predictor accuracy, synthesis reporting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2784" y="5248656"/>
            <a:ext cx="54864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2784" y="5330952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5240" y="5303520"/>
            <a:ext cx="4123944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The demo script and the evidence captures for the final presentation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2782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7412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F6FA8"/>
                </a:solidFill>
                <a:latin typeface="Arial"/>
              </a:rPr>
              <a:t>26,447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412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unit vectors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412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11 testbenches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50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0480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68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0480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programs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480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run at 4 configs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89184" y="2194560"/>
            <a:ext cx="1493520" cy="9601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35488" y="2313432"/>
            <a:ext cx="12009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9A6410"/>
                </a:solidFill>
                <a:latin typeface="Arial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35488" y="2743200"/>
            <a:ext cx="120091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trace diffs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35488" y="2898648"/>
            <a:ext cx="120091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against the ISS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27824" y="3291839"/>
            <a:ext cx="4754880" cy="14173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92416" y="3428999"/>
            <a:ext cx="4425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DELIVERED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0704" y="3675887"/>
            <a:ext cx="4389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•  11 unit testbenches totalling 26,447 vectors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655C4C"/>
                </a:solidFill>
                <a:latin typeface="Arial"/>
              </a:rPr>
              <a:t>•  68 assembly programs and the trace-diff harness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950" b="0">
                <a:solidFill>
                  <a:srgbClr val="655C4C"/>
                </a:solidFill>
                <a:latin typeface="Arial"/>
              </a:rPr>
              <a:t>•  Mutation checks: every testbench shown to FAIL against a broken module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27824" y="4846320"/>
            <a:ext cx="4754880" cy="114300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92416" y="4983480"/>
            <a:ext cx="4425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WHERE TO LOOK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10704" y="5230368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Green at </a:t>
            </a:r>
            <a:r>
              <a:rPr sz="950" b="1">
                <a:solidFill>
                  <a:srgbClr val="655C4C"/>
                </a:solidFill>
                <a:latin typeface="Arial"/>
              </a:rPr>
              <a:t>all four</a:t>
            </a:r>
            <a:r>
              <a:rPr sz="950" b="0">
                <a:solidFill>
                  <a:srgbClr val="655C4C"/>
                </a:solidFill>
                <a:latin typeface="Arial"/>
              </a:rPr>
              <a:t> FORWARDING × BHT_ENABLE configurations, byte-exact against the reference model.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A test that has never been shown to fail is </a:t>
            </a:r>
            <a:r>
              <a:rPr sz="1300" b="0">
                <a:solidFill>
                  <a:srgbClr val="2F6FA8"/>
                </a:solidFill>
                <a:latin typeface="Arial"/>
              </a:rPr>
              <a:t>not yet evidence</a:t>
            </a:r>
            <a:r>
              <a:rPr sz="1300" b="0">
                <a:solidFill>
                  <a:srgbClr val="2A2419"/>
                </a:solidFill>
                <a:latin typeface="Arial"/>
              </a:rPr>
              <a:t>. That is why the mutation checks exist.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03 ·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16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Three tiers, and nothing checked by eye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874519"/>
            <a:ext cx="10972800" cy="1133856"/>
          </a:xfrm>
          <a:prstGeom prst="rect">
            <a:avLst/>
          </a:prstGeom>
          <a:solidFill>
            <a:srgbClr val="F7F3E8"/>
          </a:solidFill>
          <a:ln w="190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904" y="1874519"/>
            <a:ext cx="45720" cy="1133856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5936" y="203911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2F6FA8"/>
                </a:solidFill>
                <a:latin typeface="Consolas"/>
              </a:rPr>
              <a:t>TIER 3 — DIFFERENTIAL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" y="2295144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419"/>
                </a:solidFill>
                <a:latin typeface="Arial"/>
              </a:rPr>
              <a:t>A second, independent implementation of the same instruction set, written in Python without reference to the Verilog.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" y="2642615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Both execute the same image and emit the same commit-trace format. The files are diffed line by line, so a mismatch names the exact retiring instruction.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0944" y="2276856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>
                <a:solidFill>
                  <a:srgbClr val="2F6FA8"/>
                </a:solidFill>
                <a:latin typeface="Consolas"/>
              </a:rPr>
              <a:t>iss.py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" y="3172968"/>
            <a:ext cx="10972800" cy="1133856"/>
          </a:xfrm>
          <a:prstGeom prst="rect">
            <a:avLst/>
          </a:prstGeom>
          <a:solidFill>
            <a:srgbClr val="F7F3E8"/>
          </a:solidFill>
          <a:ln w="12700">
            <a:solidFill>
              <a:srgbClr val="B7A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9904" y="3172968"/>
            <a:ext cx="45720" cy="1133856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5936" y="3337560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8F8674"/>
                </a:solidFill>
                <a:latin typeface="Consolas"/>
              </a:rPr>
              <a:t>TIER 2 — SELF-CHECKING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" y="3593591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419"/>
                </a:solidFill>
                <a:latin typeface="Arial"/>
              </a:rPr>
              <a:t>A standalone testbench for every module that is not pure wiring, plus one assembly program per encoding with golden state.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" y="3941063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Every vector is generated by the already cross-validated tools, never by a second hand-written copy of the logic being tested.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0944" y="3575303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700" b="1">
                <a:solidFill>
                  <a:srgbClr val="655C4C"/>
                </a:solidFill>
                <a:latin typeface="Consolas"/>
              </a:rPr>
              <a:t>11 + 46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" y="4471416"/>
            <a:ext cx="10972800" cy="1133856"/>
          </a:xfrm>
          <a:prstGeom prst="rect">
            <a:avLst/>
          </a:prstGeom>
          <a:solidFill>
            <a:srgbClr val="F7F3E8"/>
          </a:solidFill>
          <a:ln w="12700">
            <a:solidFill>
              <a:srgbClr val="B7A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9904" y="4471416"/>
            <a:ext cx="45720" cy="1133856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5936" y="4636007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140">
                <a:solidFill>
                  <a:srgbClr val="8F8674"/>
                </a:solidFill>
                <a:latin typeface="Consolas"/>
              </a:rPr>
              <a:t>TIER 1 — THE BATCH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" y="4892040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A2419"/>
                </a:solidFill>
                <a:latin typeface="Arial"/>
              </a:rPr>
              <a:t>Every simulation runs through the same three commands in batch mode: no GUI, no waveform viewer, no human judgement in the loop.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936" y="523951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A run exits zero only if the log contains a PASS line and no FAIL line, so a regression cannot pass by being ignored.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30944" y="487375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655C4C"/>
                </a:solidFill>
                <a:latin typeface="Consolas"/>
              </a:rPr>
              <a:t>xvlog / xelab / xsim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" y="5870448"/>
            <a:ext cx="10972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F8674"/>
                </a:solidFill>
                <a:latin typeface="Consolas"/>
              </a:rPr>
              <a:t>The commit trace is  &lt;pc&gt; &lt;insn&gt; x&lt;rd&gt;=&lt;value&gt; mem[&lt;addr&gt;]=&lt;value&gt;  — the same line from the RTL write-back stage and from the reference model.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A trace diff localises a bug to </a:t>
            </a:r>
            <a:r>
              <a:rPr sz="1300" b="0">
                <a:solidFill>
                  <a:srgbClr val="2F6FA8"/>
                </a:solidFill>
                <a:latin typeface="Arial"/>
              </a:rPr>
              <a:t>one retiring instruction</a:t>
            </a:r>
            <a:r>
              <a:rPr sz="1300" b="0">
                <a:solidFill>
                  <a:srgbClr val="2A2419"/>
                </a:solidFill>
                <a:latin typeface="Arial"/>
              </a:rPr>
              <a:t>. For a five-stage pipeline that is an afternoon of debugging instead of a week.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03 ·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17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Green at every build configuration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2624328" cy="859536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6208" y="190195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F6FA8"/>
                </a:solidFill>
                <a:latin typeface="Arial"/>
              </a:rPr>
              <a:t>26,447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" y="231045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dirty="0">
                <a:solidFill>
                  <a:srgbClr val="655C4C"/>
                </a:solidFill>
                <a:latin typeface="Arial"/>
              </a:rPr>
              <a:t>unit-level vectors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" y="243974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across 11 testbenches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0536" y="1783080"/>
            <a:ext cx="2624328" cy="859536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6840" y="1901952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9A6410"/>
                </a:solidFill>
                <a:latin typeface="Arial"/>
              </a:rPr>
              <a:t>4,323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6840" y="231045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toolchain checks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6840" y="243974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assembler vs reference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904" y="2752344"/>
            <a:ext cx="2624328" cy="859536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6208" y="2871215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" y="3279718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dirty="0">
                <a:solidFill>
                  <a:srgbClr val="655C4C"/>
                </a:solidFill>
                <a:latin typeface="Arial"/>
              </a:rPr>
              <a:t>assembly programs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" y="3409013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46 + 9 + 5 + 7 + 1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0536" y="2752344"/>
            <a:ext cx="2624328" cy="859536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26840" y="2871215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A2419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6840" y="3279718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build configurations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6840" y="3409013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forwarding x predictor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904" y="3794760"/>
            <a:ext cx="5394960" cy="214884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4496" y="3931920"/>
            <a:ext cx="50657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THE FIVE LARGEST SUITES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784" y="422452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Suite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47264" y="4224528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15944" y="4224528"/>
            <a:ext cx="2606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What it proves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2784" y="4471416"/>
            <a:ext cx="50292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2784" y="4535424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tb_branch_unit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47264" y="4535424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16,072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3104" y="4535424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all six conditions, signed and unsigned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2784" y="4773168"/>
            <a:ext cx="50292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2784" y="482803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tb_alu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47264" y="4828032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5,072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53104" y="4828032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11 operations, every shift amount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92784" y="5065776"/>
            <a:ext cx="50292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92784" y="512064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tb_bht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47264" y="5120640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2,600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53104" y="5120640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saturation, aliasing, same-cycle access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92784" y="5358384"/>
            <a:ext cx="50292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92784" y="541324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tb_imm_gen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47264" y="5413248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1,865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53104" y="5413248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all six immediate formats and their traps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92784" y="5650992"/>
            <a:ext cx="50292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92784" y="570585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tb_control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47264" y="570585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667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3104" y="570585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the full truth table, 120 illegal encodings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92784" y="5943600"/>
            <a:ext cx="50292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This suite is </a:t>
            </a:r>
            <a:r>
              <a:rPr sz="1300" b="0">
                <a:solidFill>
                  <a:srgbClr val="2F6FA8"/>
                </a:solidFill>
                <a:latin typeface="Arial"/>
              </a:rPr>
              <a:t>the acceptance criterion from slide 2</a:t>
            </a:r>
            <a:r>
              <a:rPr sz="1300" b="0">
                <a:solidFill>
                  <a:srgbClr val="2A2419"/>
                </a:solidFill>
                <a:latin typeface="Arial"/>
              </a:rPr>
              <a:t>, already running. Golden values come from the reference model, never from a person, so a test cannot agree with the RTL by accident.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9AB61EF2-AF7D-8E7A-8477-2A05A1E6E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138" y="728777"/>
            <a:ext cx="3225364" cy="2500958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04E78F1-0755-4C33-258B-5032E4EC1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888" y="3222731"/>
            <a:ext cx="4526886" cy="1513861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4DC81C44-7678-57AD-FC8E-90B49F93D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6032" y="4745832"/>
            <a:ext cx="4507992" cy="11661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03 ·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18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The same three programs finish in 6,799 cycles instead of 9,003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95704" y="4617720"/>
            <a:ext cx="45720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9904" y="4526280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95704" y="3981297"/>
            <a:ext cx="45720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9904" y="3889857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0.6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95704" y="3344875"/>
            <a:ext cx="45720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9904" y="3253435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1.2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95704" y="2708452"/>
            <a:ext cx="45720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9904" y="2617012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1.8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95704" y="2072030"/>
            <a:ext cx="45720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9904" y="1980590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2.4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95704" y="3557015"/>
            <a:ext cx="4572000" cy="0"/>
          </a:xfrm>
          <a:prstGeom prst="line">
            <a:avLst/>
          </a:prstGeom>
          <a:ln w="12700">
            <a:solidFill>
              <a:srgbClr val="8F86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496104" y="3374135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ideal CPI = 1.0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88312" y="3166676"/>
            <a:ext cx="502920" cy="145104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164384" y="2217346"/>
            <a:ext cx="502920" cy="2400373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42592" y="2965508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2F6FA8"/>
                </a:solidFill>
                <a:latin typeface="Consolas"/>
              </a:rPr>
              <a:t>1.368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18664" y="2016178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9A6410"/>
                </a:solidFill>
                <a:latin typeface="Consolas"/>
              </a:rPr>
              <a:t>2.263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6872" y="469087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fib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6872" y="48920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3E7A4A"/>
                </a:solidFill>
                <a:latin typeface="Consolas"/>
              </a:rPr>
              <a:t>1.65x faster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51352" y="3158191"/>
            <a:ext cx="502920" cy="1459528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27424" y="2598139"/>
            <a:ext cx="502920" cy="2019580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05632" y="2957023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2F6FA8"/>
                </a:solidFill>
                <a:latin typeface="Consolas"/>
              </a:rPr>
              <a:t>1.376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81704" y="2396971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9A6410"/>
                </a:solidFill>
                <a:latin typeface="Consolas"/>
              </a:rPr>
              <a:t>1.904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9912" y="469087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bsort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59912" y="48920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3E7A4A"/>
                </a:solidFill>
                <a:latin typeface="Consolas"/>
              </a:rPr>
              <a:t>1.38x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14392" y="3136977"/>
            <a:ext cx="502920" cy="1480742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90464" y="2807098"/>
            <a:ext cx="502920" cy="1810621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68672" y="2935809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2F6FA8"/>
                </a:solidFill>
                <a:latin typeface="Consolas"/>
              </a:rPr>
              <a:t>1.396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44744" y="2605930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9A6410"/>
                </a:solidFill>
                <a:latin typeface="Consolas"/>
              </a:rPr>
              <a:t>1.707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22952" y="4690872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2A2419"/>
                </a:solidFill>
                <a:latin typeface="Consolas"/>
              </a:rPr>
              <a:t>bloop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2952" y="48920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3E7A4A"/>
                </a:solidFill>
                <a:latin typeface="Consolas"/>
              </a:rPr>
              <a:t>1.22x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95704" y="4617720"/>
            <a:ext cx="4572000" cy="0"/>
          </a:xfrm>
          <a:prstGeom prst="line">
            <a:avLst/>
          </a:prstGeom>
          <a:ln w="12700">
            <a:solidFill>
              <a:srgbClr val="8F8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570024" y="5184648"/>
            <a:ext cx="128016" cy="128016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752904" y="5166359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forwarding 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15944" y="5184648"/>
            <a:ext cx="128016" cy="128016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98824" y="5166359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forwarding off, stall instead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904" y="178308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40">
                <a:solidFill>
                  <a:srgbClr val="8F8674"/>
                </a:solidFill>
                <a:latin typeface="Consolas"/>
              </a:rPr>
              <a:t>CYCLES PER INSTRUCTION — FORWARDING ON vs OFF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0624" y="178308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40">
                <a:solidFill>
                  <a:srgbClr val="8F8674"/>
                </a:solidFill>
                <a:latin typeface="Consolas"/>
              </a:rPr>
              <a:t>CHANGE IN CYCLE COUNT WITH THE PREDICTOR 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839504" y="2057400"/>
            <a:ext cx="0" cy="2057400"/>
          </a:xfrm>
          <a:prstGeom prst="line">
            <a:avLst/>
          </a:prstGeom>
          <a:ln w="15875">
            <a:solidFill>
              <a:srgbClr val="8F86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565184" y="187451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0 %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605064" y="2057400"/>
            <a:ext cx="0" cy="2057400"/>
          </a:xfrm>
          <a:prstGeom prst="line">
            <a:avLst/>
          </a:prstGeom>
          <a:ln w="6350">
            <a:solidFill>
              <a:srgbClr val="D2C7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330744" y="187451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-10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222284" y="2057400"/>
            <a:ext cx="0" cy="2057400"/>
          </a:xfrm>
          <a:prstGeom prst="line">
            <a:avLst/>
          </a:prstGeom>
          <a:ln w="6350">
            <a:solidFill>
              <a:srgbClr val="D2C7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947964" y="187451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-5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456724" y="2057400"/>
            <a:ext cx="0" cy="2057400"/>
          </a:xfrm>
          <a:prstGeom prst="line">
            <a:avLst/>
          </a:prstGeom>
          <a:ln w="6350">
            <a:solidFill>
              <a:srgbClr val="D2C7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182404" y="187451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+5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073944" y="2057400"/>
            <a:ext cx="0" cy="2057400"/>
          </a:xfrm>
          <a:prstGeom prst="line">
            <a:avLst/>
          </a:prstGeom>
          <a:ln w="6350">
            <a:solidFill>
              <a:srgbClr val="D2C7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799624" y="1874519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8F8674"/>
                </a:solidFill>
                <a:latin typeface="Consolas"/>
              </a:rPr>
              <a:t>+10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49566" y="2157984"/>
            <a:ext cx="1789938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35166" y="221284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2F6FA8"/>
                </a:solidFill>
                <a:latin typeface="Consolas"/>
              </a:rPr>
              <a:t>-14.5 %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49232" y="21579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bpred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49232" y="233172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95.5 % accurate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53197" y="2633472"/>
            <a:ext cx="1086307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838797" y="26883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2F6FA8"/>
                </a:solidFill>
                <a:latin typeface="Consolas"/>
              </a:rPr>
              <a:t>-8.8 %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49232" y="2633472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fib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49232" y="2807208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93.4 % accurate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39504" y="3108960"/>
            <a:ext cx="61722" cy="329184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992666" y="316382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Consolas"/>
              </a:rPr>
              <a:t>+0.5 %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861346" y="3108960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bsort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61346" y="3282696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75.3 % accurate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39504" y="3584448"/>
            <a:ext cx="1234440" cy="329184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65384" y="3639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Consolas"/>
              </a:rPr>
              <a:t>+10.0 %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49232" y="3584448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FFFFFF"/>
                </a:solidFill>
                <a:latin typeface="Consolas"/>
              </a:rPr>
              <a:t>bloop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49232" y="37581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FFFFFF"/>
                </a:solidFill>
                <a:latin typeface="Consolas"/>
              </a:rPr>
              <a:t>49.9 % — adversarial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70624" y="4224528"/>
            <a:ext cx="128016" cy="128016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553504" y="42062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cycles saved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25104" y="4224528"/>
            <a:ext cx="128016" cy="128016"/>
          </a:xfrm>
          <a:prstGeom prst="rect">
            <a:avLst/>
          </a:prstGeom>
          <a:solidFill>
            <a:srgbClr val="9A64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107984" y="420624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55C4C"/>
                </a:solidFill>
                <a:latin typeface="Arial"/>
              </a:rPr>
              <a:t>cycles cost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70624" y="4617720"/>
            <a:ext cx="5212080" cy="132588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535216" y="4754880"/>
            <a:ext cx="48828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READING BOTH CHARTS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53504" y="4992624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2A2419"/>
                </a:solidFill>
                <a:latin typeface="Arial"/>
              </a:rPr>
              <a:t>Forwarding helps most where dependencies are tight. </a:t>
            </a:r>
            <a:r>
              <a:rPr sz="850" b="0">
                <a:solidFill>
                  <a:srgbClr val="655C4C"/>
                </a:solidFill>
                <a:latin typeface="Arial"/>
              </a:rPr>
              <a:t>fib gains 1.65x; bloop's load-use stall count is zero even with forwarding on, so there was nothing to save.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850" b="1">
                <a:solidFill>
                  <a:srgbClr val="2A2419"/>
                </a:solidFill>
                <a:latin typeface="Arial"/>
              </a:rPr>
              <a:t>The predictor can only win on taken branches. </a:t>
            </a:r>
            <a:r>
              <a:rPr sz="850" b="0">
                <a:solidFill>
                  <a:srgbClr val="655C4C"/>
                </a:solidFill>
                <a:latin typeface="Arial"/>
              </a:rPr>
              <a:t>bloop was written to defeat a 2-bit counter, and the 400-cycle loss matches the arithmetic exactly.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Slide 2 promised performance measured </a:t>
            </a:r>
            <a:r>
              <a:rPr sz="1300" b="0">
                <a:solidFill>
                  <a:srgbClr val="2F6FA8"/>
                </a:solidFill>
                <a:latin typeface="Arial"/>
              </a:rPr>
              <a:t>against a baseline</a:t>
            </a:r>
            <a:r>
              <a:rPr sz="1300" b="0">
                <a:solidFill>
                  <a:srgbClr val="2A2419"/>
                </a:solidFill>
                <a:latin typeface="Arial"/>
              </a:rPr>
              <a:t> rather than quoted in isolation. This is that measurement, for both bonus features.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03 ·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2F6FA8"/>
          </a:solidFill>
          <a:ln w="635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19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SIMULATION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The hazard logic, seen in the waveform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59344" y="1783080"/>
            <a:ext cx="4023360" cy="228600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3936" y="1920240"/>
            <a:ext cx="3694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WHAT THE AUDIENCE SHOULD SEE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2224" y="224027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STALL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0400" y="2212848"/>
            <a:ext cx="22494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for exactly one cycle, while ex_valid drops — the pipeline bubble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42224" y="2596896"/>
            <a:ext cx="36576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42224" y="2679191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FWD_A / FWD_B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0400" y="2651760"/>
            <a:ext cx="22494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switching to 01 the cycle after, the MEM/WB bypass delivering the load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42224" y="3035808"/>
            <a:ext cx="36576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42224" y="3118103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FLUSH_IF /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0400" y="3090672"/>
            <a:ext cx="22494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shown alongside, redirecting the front of the pipe on a taken branch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42224" y="3474720"/>
            <a:ext cx="365760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2224" y="3557015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TRACE_VALID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0400" y="3529584"/>
            <a:ext cx="224942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2A2419"/>
                </a:solidFill>
                <a:latin typeface="Arial"/>
              </a:rPr>
              <a:t>dropping for the squashed slot inside the bubble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59344" y="4206240"/>
            <a:ext cx="4023360" cy="1737360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23936" y="4343400"/>
            <a:ext cx="3694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WHY THIS SLIDE EXISTS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2224" y="461772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The course task asks us to </a:t>
            </a:r>
            <a:r>
              <a:rPr sz="950" b="1">
                <a:solidFill>
                  <a:srgbClr val="2A2419"/>
                </a:solidFill>
                <a:latin typeface="Arial"/>
              </a:rPr>
              <a:t>use the simulation tools to show the function of the CPU</a:t>
            </a:r>
            <a:r>
              <a:rPr sz="950" b="0">
                <a:solidFill>
                  <a:srgbClr val="655C4C"/>
                </a:solidFill>
                <a:latin typeface="Arial"/>
              </a:rPr>
              <a:t>. The PASS lines prove it to a machine. This is the picture that proves it to a person.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Correctness is decided by the self-checking testbenches, never by reading a waveform. The waveform is </a:t>
            </a:r>
            <a:r>
              <a:rPr sz="1300" b="0">
                <a:solidFill>
                  <a:srgbClr val="2F6FA8"/>
                </a:solidFill>
                <a:latin typeface="Arial"/>
              </a:rPr>
              <a:t>evidence for the audience</a:t>
            </a:r>
            <a:r>
              <a:rPr sz="1300" b="0">
                <a:solidFill>
                  <a:srgbClr val="2A2419"/>
                </a:solidFill>
                <a:latin typeface="Arial"/>
              </a:rPr>
              <a:t>, not the test.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6819F9E-36F6-3EFA-BCB8-C692F54D6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" y="2313431"/>
            <a:ext cx="6794331" cy="317611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20 /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WHERE WE 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What we are committing to, and why we 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920240"/>
            <a:ext cx="3523488" cy="3017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" y="2057400"/>
            <a:ext cx="319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" y="2359152"/>
            <a:ext cx="31577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A2419"/>
                </a:solidFill>
                <a:latin typeface="Arial"/>
              </a:rPr>
              <a:t>46 encodings execute correctly on a 5-stage pipeline with full forwarding, a load-use interlock and flush-based control recovery.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" y="3794760"/>
            <a:ext cx="31577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Checked against an independent reference model, byte for byte, at every build configuration.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4560" y="1920240"/>
            <a:ext cx="3523488" cy="3017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9152" y="2057400"/>
            <a:ext cx="319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440" y="2359152"/>
            <a:ext cx="31577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A2419"/>
                </a:solidFill>
                <a:latin typeface="Arial"/>
              </a:rPr>
              <a:t>Forwarding is worth 1.32x overall and 1.65x on the tightest dependent loop. The predictor reaches 95.5 % where branches are taken.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440" y="3794760"/>
            <a:ext cx="31577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Both measured by counters in the RTL, both with the feature switched off as the baseline.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59216" y="1920240"/>
            <a:ext cx="3523488" cy="3017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3808" y="2057400"/>
            <a:ext cx="3194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BETWEEN HERE AND SEP 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2096" y="2359152"/>
            <a:ext cx="31577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2A2419"/>
                </a:solidFill>
                <a:latin typeface="Arial"/>
              </a:rPr>
              <a:t>Two timing improvements, the final regression on the frozen RTL, the final synthesis run, and the demo package.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2096" y="3794760"/>
            <a:ext cx="315772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None of it is new design work. It is finishing measurement on a machine that already runs.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" y="5212080"/>
            <a:ext cx="2143353" cy="457200"/>
          </a:xfrm>
          <a:prstGeom prst="rect">
            <a:avLst/>
          </a:prstGeom>
          <a:solidFill>
            <a:srgbClr val="CB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B2A38"/>
                </a:solidFill>
                <a:latin typeface="Consolas"/>
              </a:rPr>
              <a:t>IF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17266" y="5212080"/>
            <a:ext cx="2143353" cy="457200"/>
          </a:xfrm>
          <a:prstGeom prst="rect">
            <a:avLst/>
          </a:prstGeom>
          <a:solidFill>
            <a:srgbClr val="9CB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B2A38"/>
                </a:solidFill>
                <a:latin typeface="Consolas"/>
              </a:rPr>
              <a:t>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4628" y="5212080"/>
            <a:ext cx="2143353" cy="457200"/>
          </a:xfrm>
          <a:prstGeom prst="rect">
            <a:avLst/>
          </a:prstGeom>
          <a:solidFill>
            <a:srgbClr val="6E97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7F3E8"/>
                </a:solidFill>
                <a:latin typeface="Consolas"/>
              </a:rPr>
              <a:t>EX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31989" y="5212080"/>
            <a:ext cx="2143353" cy="457200"/>
          </a:xfrm>
          <a:prstGeom prst="rect">
            <a:avLst/>
          </a:prstGeom>
          <a:solidFill>
            <a:srgbClr val="457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7F3E8"/>
                </a:solidFill>
                <a:latin typeface="Consolas"/>
              </a:rPr>
              <a:t>MEM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9351" y="5212080"/>
            <a:ext cx="2143353" cy="457200"/>
          </a:xfrm>
          <a:prstGeom prst="rect">
            <a:avLst/>
          </a:prstGeom>
          <a:solidFill>
            <a:srgbClr val="2A5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F7F3E8"/>
                </a:solidFill>
                <a:latin typeface="Consolas"/>
              </a:rPr>
              <a:t>WB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Every criterion on slide 2 is already met once. What remains is </a:t>
            </a:r>
            <a:r>
              <a:rPr sz="1300" b="0">
                <a:solidFill>
                  <a:srgbClr val="2F6FA8"/>
                </a:solidFill>
                <a:latin typeface="Arial"/>
              </a:rPr>
              <a:t>measurement on a machine that runs</a:t>
            </a:r>
            <a:r>
              <a:rPr sz="1300" b="0">
                <a:solidFill>
                  <a:srgbClr val="2A2419"/>
                </a:solidFill>
                <a:latin typeface="Arial"/>
              </a:rPr>
              <a:t>, not design.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Appendix — if asked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A1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Design decisions, and what each one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534924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" y="1920240"/>
            <a:ext cx="50200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" y="224027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ISA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8080" y="2212848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RV32I user subset plus simplified machine-mode CSRs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2784" y="2523744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2784" y="260603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8080" y="2578608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5 stages, in-order issue, in-order completion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2784" y="2889503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2784" y="297179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8080" y="2944368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Harvard, 4 KB + 4 KB, single-cycle synchronous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784" y="3255263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784" y="333755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RESET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8080" y="3310127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Synchronous, active high, PC to 0x00000000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3464" y="1783080"/>
            <a:ext cx="5349240" cy="1965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98056" y="1920240"/>
            <a:ext cx="50200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HAZARDS AND CONTROL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6344" y="224027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1640" y="2212848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Full EX/MEM and MEM/WB forwarding; EX/MEM has priority; x0 never forwarded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16344" y="2523744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16344" y="260603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LOAD-USE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1640" y="2578608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1-cycle interlock, then served by the MEM/WB bypass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16344" y="2889503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16344" y="297179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JAL / BRANCH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41640" y="2944368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ID, 1 bubble / EX, 2 bubbles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16344" y="3255263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16344" y="3337559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BASELINE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41640" y="3310127"/>
            <a:ext cx="375818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FORWARDING disables the bypass network for the CPI comparison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904" y="3931920"/>
            <a:ext cx="5349240" cy="201168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4496" y="4069080"/>
            <a:ext cx="50200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BONUS 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2784" y="43891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BRANCH PRED.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9520" y="4361688"/>
            <a:ext cx="36667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Implemented, 64-entry 2-bit BHT with accuracy counters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2784" y="4809744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92784" y="489204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INTERRUPTS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9520" y="4864607"/>
            <a:ext cx="36667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Implemented, mstatus / mie / mtvec / mepc / mcause, CSR instructions, mret, external irq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92784" y="5312664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92784" y="5394959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I-CACHE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9520" y="5367527"/>
            <a:ext cx="366674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Cut on purpose. Behind a single-cycle memory a hit and a miss cost the same, and the suite fits in 2 KB, so the hit rate would read ~99 % and prove nothing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3464" y="3931920"/>
            <a:ext cx="5349240" cy="201168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98056" y="4069080"/>
            <a:ext cx="50200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TOOLCHAIN AND TARGET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6344" y="43891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HDL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33080" y="4361688"/>
            <a:ext cx="3666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Plain synthesizable Verilog-2001, no IP catalog, no block design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16344" y="4690872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416344" y="477316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SIMULATOR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33080" y="4745736"/>
            <a:ext cx="3666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Vivado 2026.1 xsim, batch flow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416344" y="5074920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416344" y="5157216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REFERENCE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33080" y="5129783"/>
            <a:ext cx="3666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Written in Python. Mars4_5 is MIPS-only and cannot execute RISC-V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416344" y="5458968"/>
            <a:ext cx="4983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16344" y="5541264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20">
                <a:solidFill>
                  <a:srgbClr val="655C4C"/>
                </a:solidFill>
                <a:latin typeface="Consolas"/>
              </a:rPr>
              <a:t>PART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33080" y="5513831"/>
            <a:ext cx="36667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A2419"/>
                </a:solidFill>
                <a:latin typeface="Arial"/>
              </a:rPr>
              <a:t>xc7a35tcpg236-1, simulation plus synthesis report, no board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Cutting the cache was a </a:t>
            </a:r>
            <a:r>
              <a:rPr sz="1300" b="0">
                <a:solidFill>
                  <a:srgbClr val="2F6FA8"/>
                </a:solidFill>
                <a:latin typeface="Arial"/>
              </a:rPr>
              <a:t>measurement decision</a:t>
            </a:r>
            <a:r>
              <a:rPr sz="1300" b="0">
                <a:solidFill>
                  <a:srgbClr val="2A2419"/>
                </a:solidFill>
                <a:latin typeface="Arial"/>
              </a:rPr>
              <a:t>, not a schedule 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Appendix — if asked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19 RTL modules, and the two tools we wrote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6035040" cy="4160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" y="1920240"/>
            <a:ext cx="57058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rtl/ — 19 MODULES, PLAIN VERILOG-2001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" y="2240280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spc="120">
                <a:solidFill>
                  <a:srgbClr val="8F8674"/>
                </a:solidFill>
                <a:latin typeface="Consolas"/>
              </a:rPr>
              <a:t>PIPELINE REGISTERS —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784" y="2478024"/>
            <a:ext cx="777240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if_id.v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3176" y="2478024"/>
            <a:ext cx="777240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id_ex.v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93568" y="2478024"/>
            <a:ext cx="859536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ex_mem.v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6256" y="2478024"/>
            <a:ext cx="859536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mem_wb.v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" y="2953512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spc="120">
                <a:solidFill>
                  <a:srgbClr val="8F8674"/>
                </a:solidFill>
                <a:latin typeface="Consolas"/>
              </a:rPr>
              <a:t>DATAPATH — 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784" y="3191256"/>
            <a:ext cx="530352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pc.v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96288" y="3191256"/>
            <a:ext cx="941832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regfile.v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11272" y="3191256"/>
            <a:ext cx="612647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alu.v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97072" y="3191256"/>
            <a:ext cx="1024127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alu_ctrl.v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94352" y="3191256"/>
            <a:ext cx="941832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imm_gen.v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09336" y="3191256"/>
            <a:ext cx="941832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control.v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784" y="3483864"/>
            <a:ext cx="1271016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branch_unit.v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" y="3959352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spc="120">
                <a:solidFill>
                  <a:srgbClr val="8F8674"/>
                </a:solidFill>
                <a:latin typeface="Consolas"/>
              </a:rPr>
              <a:t>HAZARD LOGIC —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784" y="4197096"/>
            <a:ext cx="1353312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9A6410"/>
                </a:solidFill>
                <a:latin typeface="Consolas"/>
              </a:rPr>
              <a:t>forward_unit.v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19248" y="4197096"/>
            <a:ext cx="1271016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9A6410"/>
                </a:solidFill>
                <a:latin typeface="Consolas"/>
              </a:rPr>
              <a:t>hazard_unit.v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784" y="4672583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spc="120">
                <a:solidFill>
                  <a:srgbClr val="8F8674"/>
                </a:solidFill>
                <a:latin typeface="Consolas"/>
              </a:rPr>
              <a:t>BONUS AND INSTRUMENTATION —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2784" y="4910327"/>
            <a:ext cx="612647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bht.v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78584" y="4910327"/>
            <a:ext cx="612647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csr.v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64384" y="4910327"/>
            <a:ext cx="1435607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perf_counters.v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784" y="5385815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spc="120">
                <a:solidFill>
                  <a:srgbClr val="8F8674"/>
                </a:solidFill>
                <a:latin typeface="Consolas"/>
              </a:rPr>
              <a:t>MEMORY AND TOP —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2784" y="5623559"/>
            <a:ext cx="694944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imem.v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60880" y="5623559"/>
            <a:ext cx="694944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dmem.v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28976" y="5623559"/>
            <a:ext cx="941832" cy="237744"/>
          </a:xfrm>
          <a:prstGeom prst="rect">
            <a:avLst/>
          </a:prstGeom>
          <a:solidFill>
            <a:srgbClr val="DDD3BE"/>
          </a:solidFill>
          <a:ln w="9525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655C4C"/>
                </a:solidFill>
                <a:latin typeface="Consolas"/>
              </a:rPr>
              <a:t>cpu_top.v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19264" y="1783080"/>
            <a:ext cx="4663440" cy="26517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83856" y="1920240"/>
            <a:ext cx="43342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tools/ — THE TOOLCHAIN PROBLEM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2144" y="2194560"/>
            <a:ext cx="4297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The course names Mars4_5 as the simulator. Mars executes MIPS, not RISC-V, so there was no reference model to check the RTL against. We wrote one.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02144" y="2880360"/>
            <a:ext cx="1554480" cy="329184"/>
          </a:xfrm>
          <a:prstGeom prst="rect">
            <a:avLst/>
          </a:prstGeom>
          <a:solidFill>
            <a:srgbClr val="DDD3BE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A2419"/>
                </a:solidFill>
                <a:latin typeface="Consolas"/>
              </a:rPr>
              <a:t>program.s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879384" y="3209544"/>
            <a:ext cx="0" cy="146304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7102144" y="3355848"/>
            <a:ext cx="1554480" cy="329184"/>
          </a:xfrm>
          <a:prstGeom prst="rect">
            <a:avLst/>
          </a:prstGeom>
          <a:solidFill>
            <a:srgbClr val="F7F3E8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F6FA8"/>
                </a:solidFill>
                <a:latin typeface="Consolas"/>
              </a:rPr>
              <a:t>asm.py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879384" y="3685032"/>
            <a:ext cx="0" cy="146303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102144" y="3831335"/>
            <a:ext cx="1554480" cy="329184"/>
          </a:xfrm>
          <a:prstGeom prst="rect">
            <a:avLst/>
          </a:prstGeom>
          <a:solidFill>
            <a:srgbClr val="DDD3BE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A2419"/>
                </a:solidFill>
                <a:latin typeface="Consolas"/>
              </a:rPr>
              <a:t>program.hex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30944" y="2880360"/>
            <a:ext cx="1554480" cy="329184"/>
          </a:xfrm>
          <a:prstGeom prst="rect">
            <a:avLst/>
          </a:prstGeom>
          <a:solidFill>
            <a:srgbClr val="F7F3E8"/>
          </a:solidFill>
          <a:ln w="12700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9A6410"/>
                </a:solidFill>
                <a:latin typeface="Consolas"/>
              </a:rPr>
              <a:t>iss.py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30944" y="3831335"/>
            <a:ext cx="1554480" cy="329184"/>
          </a:xfrm>
          <a:prstGeom prst="rect">
            <a:avLst/>
          </a:prstGeom>
          <a:solidFill>
            <a:srgbClr val="F7F3E8"/>
          </a:solidFill>
          <a:ln w="12700">
            <a:solidFill>
              <a:srgbClr val="457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>
                <a:solidFill>
                  <a:srgbClr val="2A2419"/>
                </a:solidFill>
                <a:latin typeface="Consolas"/>
              </a:rPr>
              <a:t>cpu_top · xsim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56624" y="3995927"/>
            <a:ext cx="274320" cy="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656624" y="3044952"/>
            <a:ext cx="274320" cy="950975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0668304" y="3355848"/>
            <a:ext cx="822960" cy="329184"/>
          </a:xfrm>
          <a:prstGeom prst="rect">
            <a:avLst/>
          </a:prstGeom>
          <a:solidFill>
            <a:srgbClr val="DCE6F0"/>
          </a:solidFill>
          <a:ln w="12700">
            <a:solidFill>
              <a:srgbClr val="2F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>
                <a:solidFill>
                  <a:srgbClr val="2A2419"/>
                </a:solidFill>
                <a:latin typeface="Consolas"/>
              </a:rPr>
              <a:t>diff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485424" y="3044952"/>
            <a:ext cx="182880" cy="384048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485424" y="3630168"/>
            <a:ext cx="182880" cy="365760"/>
          </a:xfrm>
          <a:prstGeom prst="line">
            <a:avLst/>
          </a:prstGeom>
          <a:ln w="12700">
            <a:solidFill>
              <a:srgbClr val="8F86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919264" y="4572000"/>
            <a:ext cx="2258568" cy="822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65568" y="4690872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2F6FA8"/>
                </a:solidFill>
                <a:latin typeface="Arial"/>
              </a:rPr>
              <a:t>861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65568" y="5120640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lines of assembler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65568" y="5138928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two-pass, 6 formats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24136" y="4572000"/>
            <a:ext cx="2258568" cy="82296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70440" y="4690872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500" b="1">
                <a:solidFill>
                  <a:srgbClr val="9A6410"/>
                </a:solidFill>
                <a:latin typeface="Arial"/>
              </a:rPr>
              <a:t>589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70440" y="5120640"/>
            <a:ext cx="1965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55C4C"/>
                </a:solidFill>
                <a:latin typeface="Arial"/>
              </a:rPr>
              <a:t>lines of ISS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70440" y="5138928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8F8674"/>
                </a:solidFill>
                <a:latin typeface="Consolas"/>
              </a:rPr>
              <a:t>emits the commit trace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Building our own reference model forced every ISA question to be </a:t>
            </a:r>
            <a:r>
              <a:rPr sz="1300" b="0">
                <a:solidFill>
                  <a:srgbClr val="2F6FA8"/>
                </a:solidFill>
                <a:latin typeface="Arial"/>
              </a:rPr>
              <a:t>answered once, explicitly</a:t>
            </a:r>
            <a:r>
              <a:rPr sz="1300" b="0">
                <a:solidFill>
                  <a:srgbClr val="2A2419"/>
                </a:solidFill>
                <a:latin typeface="Arial"/>
              </a:rPr>
              <a:t>, before the RTL was written.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E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09904" y="658368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609904" y="310896"/>
            <a:ext cx="50292" cy="50292"/>
          </a:xfrm>
          <a:prstGeom prst="ellipse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7920" y="210312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spc="220">
                <a:solidFill>
                  <a:srgbClr val="655C4C"/>
                </a:solidFill>
                <a:latin typeface="Consolas"/>
              </a:rPr>
              <a:t>Appendix — if asked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671816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EX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5048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MEM</a:t>
            </a:r>
          </a:p>
        </p:txBody>
      </p:sp>
      <p:sp>
        <p:nvSpPr>
          <p:cNvPr id="9" name="Rectangle 8"/>
          <p:cNvSpPr/>
          <p:nvPr/>
        </p:nvSpPr>
        <p:spPr>
          <a:xfrm>
            <a:off x="8741664" y="242316"/>
            <a:ext cx="329184" cy="169164"/>
          </a:xfrm>
          <a:prstGeom prst="rect">
            <a:avLst/>
          </a:prstGeom>
          <a:solidFill>
            <a:srgbClr val="DDD3BE"/>
          </a:solidFill>
          <a:ln w="635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>
                <a:solidFill>
                  <a:srgbClr val="8F8674"/>
                </a:solidFill>
                <a:latin typeface="Consolas"/>
              </a:rPr>
              <a:t>WB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88728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817912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47096" y="315468"/>
            <a:ext cx="292608" cy="25603"/>
          </a:xfrm>
          <a:prstGeom prst="rect">
            <a:avLst/>
          </a:prstGeom>
          <a:solidFill>
            <a:srgbClr val="B7A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14024" y="214884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F8674"/>
                </a:solidFill>
                <a:latin typeface="Consolas"/>
              </a:rPr>
              <a:t>A3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768096"/>
            <a:ext cx="10972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spc="260">
                <a:solidFill>
                  <a:srgbClr val="2F6FA8"/>
                </a:solidFill>
                <a:latin typeface="Consolas"/>
              </a:rPr>
              <a:t>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1042415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300" b="1">
                <a:solidFill>
                  <a:srgbClr val="2A2419"/>
                </a:solidFill>
                <a:latin typeface="Arial"/>
              </a:rPr>
              <a:t>How we know the tests would actually fail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783080"/>
            <a:ext cx="6492240" cy="4160520"/>
          </a:xfrm>
          <a:prstGeom prst="rect">
            <a:avLst/>
          </a:prstGeom>
          <a:solidFill>
            <a:srgbClr val="F7F3E8"/>
          </a:solidFill>
          <a:ln w="12700">
            <a:solidFill>
              <a:srgbClr val="D2C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" y="1920240"/>
            <a:ext cx="61630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MUTATION CHECKS — A BROKEN MODULE MUST PRODUCE FAIL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" y="2240280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Bug injected on purpose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6064" y="224028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>
                <a:solidFill>
                  <a:srgbClr val="8F8674"/>
                </a:solidFill>
                <a:latin typeface="Consolas"/>
              </a:rPr>
              <a:t>Caught by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2784" y="2487168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2784" y="255117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SRA as a logical 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6064" y="255117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tb_alu, negative-operand vectors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2784" y="2788920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2784" y="285292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WB to ID bypass removed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6064" y="285292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tb_regfile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784" y="3090672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784" y="315468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B-format immediate bit flipped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6064" y="315468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tb_imm_gen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2784" y="3392424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2784" y="345643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alu_ctrl reads inst[30] for addi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6064" y="345643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tb_control, the addi / sub trap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2784" y="3694176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2784" y="3758184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Forwarding priority swapped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76064" y="375818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asm/hazard/fwd_ex_ex.s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2784" y="3995928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92784" y="4059936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x0 guard removed from forwarding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76064" y="405993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asm/hazard/x0_hazard.s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2784" y="4297680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2784" y="436168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Load-use interlock disabled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76064" y="436168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asm/hazard/load_use.s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2784" y="4599432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92784" y="4663440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A2419"/>
                </a:solidFill>
                <a:latin typeface="Consolas"/>
              </a:rPr>
              <a:t>lb sign extension removed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6064" y="466344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55C4C"/>
                </a:solidFill>
                <a:latin typeface="Arial"/>
              </a:rPr>
              <a:t>tb_dmem and asm/insn/lb.s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92784" y="4901184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2784" y="496519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Consolas"/>
              </a:rPr>
              <a:t>BHT trained with the inverted outcome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6064" y="496519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9A6410"/>
                </a:solidFill>
                <a:latin typeface="Arial"/>
              </a:rPr>
              <a:t>nothing, and that is correct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92784" y="5202936"/>
            <a:ext cx="6126480" cy="0"/>
          </a:xfrm>
          <a:prstGeom prst="line">
            <a:avLst/>
          </a:prstGeom>
          <a:ln w="6350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7376464" y="1783080"/>
            <a:ext cx="4206240" cy="4160520"/>
          </a:xfrm>
          <a:prstGeom prst="rect">
            <a:avLst/>
          </a:prstGeom>
          <a:solidFill>
            <a:srgbClr val="F7F3E8"/>
          </a:solidFill>
          <a:ln w="12700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541056" y="1920240"/>
            <a:ext cx="387705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8F8674"/>
                </a:solidFill>
                <a:latin typeface="Consolas"/>
              </a:rPr>
              <a:t>THE LAST ROW IS THE INTERESTING 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9344" y="2240280"/>
            <a:ext cx="384048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55C4C"/>
                </a:solidFill>
                <a:latin typeface="Arial"/>
              </a:rPr>
              <a:t>Training the predictor with the </a:t>
            </a:r>
            <a:r>
              <a:rPr sz="1000" b="1">
                <a:solidFill>
                  <a:srgbClr val="655C4C"/>
                </a:solidFill>
                <a:latin typeface="Arial"/>
              </a:rPr>
              <a:t>inverted</a:t>
            </a:r>
            <a:r>
              <a:rPr sz="1000" b="0">
                <a:solidFill>
                  <a:srgbClr val="655C4C"/>
                </a:solidFill>
                <a:latin typeface="Arial"/>
              </a:rPr>
              <a:t> outcome collapses accuracy. fib falls from 93.4 % to 3.3 %, and bloop costs another 438 cycles.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000" b="0">
                <a:solidFill>
                  <a:srgbClr val="655C4C"/>
                </a:solidFill>
                <a:latin typeface="Arial"/>
              </a:rPr>
              <a:t>Yet every program still passes its byte-exact trace diff.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000" b="1">
                <a:solidFill>
                  <a:srgbClr val="2A2419"/>
                </a:solidFill>
                <a:latin typeface="Arial"/>
              </a:rPr>
              <a:t>That is the right answer. </a:t>
            </a:r>
            <a:r>
              <a:rPr sz="1000" b="0">
                <a:solidFill>
                  <a:srgbClr val="655C4C"/>
                </a:solidFill>
                <a:latin typeface="Arial"/>
              </a:rPr>
              <a:t>The predictor only changes </a:t>
            </a:r>
            <a:r>
              <a:rPr sz="1000" b="1">
                <a:solidFill>
                  <a:srgbClr val="2F6FA8"/>
                </a:solidFill>
                <a:latin typeface="Arial"/>
              </a:rPr>
              <a:t>when</a:t>
            </a:r>
            <a:r>
              <a:rPr sz="1000" b="0">
                <a:solidFill>
                  <a:srgbClr val="655C4C"/>
                </a:solidFill>
                <a:latin typeface="Arial"/>
              </a:rPr>
              <a:t> instructions are fetched, never what they compute. Correctness rests entirely on the EX-stage resolution and flush, and the trace diff should be blind to a misprediction rate.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09904" y="6272784"/>
            <a:ext cx="10972800" cy="0"/>
          </a:xfrm>
          <a:prstGeom prst="line">
            <a:avLst/>
          </a:prstGeom>
          <a:ln w="9525">
            <a:solidFill>
              <a:srgbClr val="D2C7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609904" y="6391656"/>
            <a:ext cx="25603" cy="329184"/>
          </a:xfrm>
          <a:prstGeom prst="rect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6208" y="6391656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A2419"/>
                </a:solidFill>
                <a:latin typeface="Arial"/>
              </a:rPr>
              <a:t>A testbench is not trusted until it has been </a:t>
            </a:r>
            <a:r>
              <a:rPr sz="1300" b="0">
                <a:solidFill>
                  <a:srgbClr val="2F6FA8"/>
                </a:solidFill>
                <a:latin typeface="Arial"/>
              </a:rPr>
              <a:t>shown to fail</a:t>
            </a:r>
            <a:r>
              <a:rPr sz="1300" b="0">
                <a:solidFill>
                  <a:srgbClr val="2A2419"/>
                </a:solidFill>
                <a:latin typeface="Arial"/>
              </a:rPr>
              <a:t> against a deliberately broken copy of the module it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9127</Words>
  <Application>Microsoft Macintosh PowerPoint</Application>
  <PresentationFormat>Widescreen</PresentationFormat>
  <Paragraphs>1424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Thanakorn Hongsranont</cp:lastModifiedBy>
  <cp:revision>3</cp:revision>
  <dcterms:created xsi:type="dcterms:W3CDTF">2013-01-27T09:14:16Z</dcterms:created>
  <dcterms:modified xsi:type="dcterms:W3CDTF">2026-09-10T01:32:55Z</dcterms:modified>
  <cp:category/>
</cp:coreProperties>
</file>