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taphon Kitsanakarakat" userId="34fbd52d53948f28" providerId="LiveId" clId="{2ACBE802-F97E-4423-8328-9FB178187958}"/>
    <pc:docChg chg="undo custSel addSld delSld modSld sldOrd">
      <pc:chgData name="Kantaphon Kitsanakarakat" userId="34fbd52d53948f28" providerId="LiveId" clId="{2ACBE802-F97E-4423-8328-9FB178187958}" dt="2026-09-14T10:27:05.366" v="57" actId="47"/>
      <pc:docMkLst>
        <pc:docMk/>
      </pc:docMkLst>
      <pc:sldChg chg="add del">
        <pc:chgData name="Kantaphon Kitsanakarakat" userId="34fbd52d53948f28" providerId="LiveId" clId="{2ACBE802-F97E-4423-8328-9FB178187958}" dt="2026-09-14T10:27:05.366" v="57" actId="47"/>
        <pc:sldMkLst>
          <pc:docMk/>
          <pc:sldMk cId="0" sldId="267"/>
        </pc:sldMkLst>
      </pc:sldChg>
      <pc:sldChg chg="ord">
        <pc:chgData name="Kantaphon Kitsanakarakat" userId="34fbd52d53948f28" providerId="LiveId" clId="{2ACBE802-F97E-4423-8328-9FB178187958}" dt="2026-09-10T03:12:09.035" v="55"/>
        <pc:sldMkLst>
          <pc:docMk/>
          <pc:sldMk cId="0" sldId="269"/>
        </pc:sldMkLst>
      </pc:sldChg>
      <pc:sldChg chg="addSp delSp modSp mod">
        <pc:chgData name="Kantaphon Kitsanakarakat" userId="34fbd52d53948f28" providerId="LiveId" clId="{2ACBE802-F97E-4423-8328-9FB178187958}" dt="2026-09-09T12:30:06.669" v="47" actId="1076"/>
        <pc:sldMkLst>
          <pc:docMk/>
          <pc:sldMk cId="0" sldId="272"/>
        </pc:sldMkLst>
        <pc:picChg chg="add mod">
          <ac:chgData name="Kantaphon Kitsanakarakat" userId="34fbd52d53948f28" providerId="LiveId" clId="{2ACBE802-F97E-4423-8328-9FB178187958}" dt="2026-09-09T12:30:06.669" v="47" actId="1076"/>
          <ac:picMkLst>
            <pc:docMk/>
            <pc:sldMk cId="0" sldId="272"/>
            <ac:picMk id="68" creationId="{9AB61EF2-AF7D-8E7A-8477-2A05A1E6EC47}"/>
          </ac:picMkLst>
        </pc:picChg>
        <pc:picChg chg="add mod">
          <ac:chgData name="Kantaphon Kitsanakarakat" userId="34fbd52d53948f28" providerId="LiveId" clId="{2ACBE802-F97E-4423-8328-9FB178187958}" dt="2026-09-09T12:29:42.024" v="40" actId="1076"/>
          <ac:picMkLst>
            <pc:docMk/>
            <pc:sldMk cId="0" sldId="272"/>
            <ac:picMk id="74" creationId="{804E78F1-0755-4C33-258B-5032E4EC100F}"/>
          </ac:picMkLst>
        </pc:picChg>
        <pc:picChg chg="add mod">
          <ac:chgData name="Kantaphon Kitsanakarakat" userId="34fbd52d53948f28" providerId="LiveId" clId="{2ACBE802-F97E-4423-8328-9FB178187958}" dt="2026-09-09T12:29:38.798" v="39" actId="1076"/>
          <ac:picMkLst>
            <pc:docMk/>
            <pc:sldMk cId="0" sldId="272"/>
            <ac:picMk id="76" creationId="{4DC81C44-7678-57AD-FC8E-90B49F93D432}"/>
          </ac:picMkLst>
        </pc:picChg>
      </pc:sldChg>
      <pc:sldChg chg="addSp delSp modSp mod">
        <pc:chgData name="Kantaphon Kitsanakarakat" userId="34fbd52d53948f28" providerId="LiveId" clId="{2ACBE802-F97E-4423-8328-9FB178187958}" dt="2026-09-09T12:30:44.872" v="53" actId="1076"/>
        <pc:sldMkLst>
          <pc:docMk/>
          <pc:sldMk cId="0" sldId="274"/>
        </pc:sldMkLst>
        <pc:picChg chg="add mod">
          <ac:chgData name="Kantaphon Kitsanakarakat" userId="34fbd52d53948f28" providerId="LiveId" clId="{2ACBE802-F97E-4423-8328-9FB178187958}" dt="2026-09-09T12:30:44.872" v="53" actId="1076"/>
          <ac:picMkLst>
            <pc:docMk/>
            <pc:sldMk cId="0" sldId="274"/>
            <ac:picMk id="42" creationId="{86819F9E-36F6-3EFA-BCB8-C692F54D6E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Computer Organization · BIT Y4T1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" y="10515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60">
                <a:solidFill>
                  <a:srgbClr val="2F6FA8"/>
                </a:solidFill>
                <a:latin typeface="Consolas"/>
              </a:rPr>
              <a:t>PIPELINE CPU PROJECT · MIDTERM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41732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2A2419"/>
                </a:solidFill>
                <a:latin typeface="Arial"/>
              </a:rPr>
              <a:t>A 5-stage RISC-V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4000" b="1">
                <a:solidFill>
                  <a:srgbClr val="2A2419"/>
                </a:solidFill>
                <a:latin typeface="Arial"/>
              </a:rPr>
              <a:t>RV32I processor in Verilog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288036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55C4C"/>
                </a:solidFill>
                <a:latin typeface="Arial"/>
              </a:rPr>
              <a:t>46 instruction encodings, full forwarding, a load-use interlock, branch prediction and machine-mode interrupts. Verified against a golden reference model we wrote ourselves, and synthesized for an Artix-7.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3840480"/>
            <a:ext cx="2143353" cy="475488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7266" y="3840480"/>
            <a:ext cx="2143353" cy="475488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4628" y="3840480"/>
            <a:ext cx="2143353" cy="475488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1989" y="3840480"/>
            <a:ext cx="2143353" cy="475488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9351" y="3840480"/>
            <a:ext cx="2143353" cy="475488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52628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F8674"/>
                </a:solidFill>
                <a:latin typeface="Consolas"/>
              </a:rPr>
              <a:t>Colours used throughout:   </a:t>
            </a:r>
            <a:r>
              <a:rPr sz="950" b="1">
                <a:solidFill>
                  <a:srgbClr val="9A6410"/>
                </a:solidFill>
                <a:latin typeface="Consolas"/>
              </a:rPr>
              <a:t>bypass network    </a:t>
            </a:r>
            <a:r>
              <a:rPr sz="950" b="1">
                <a:solidFill>
                  <a:srgbClr val="6B54A8"/>
                </a:solidFill>
                <a:latin typeface="Consolas"/>
              </a:rPr>
              <a:t>interlock / stall    </a:t>
            </a:r>
            <a:r>
              <a:rPr sz="950" b="1">
                <a:solidFill>
                  <a:srgbClr val="A83226"/>
                </a:solidFill>
                <a:latin typeface="Consolas"/>
              </a:rPr>
              <a:t>flush / killed    </a:t>
            </a:r>
            <a:r>
              <a:rPr sz="950" b="1">
                <a:solidFill>
                  <a:srgbClr val="3E7A4A"/>
                </a:solidFill>
                <a:latin typeface="Consolas"/>
              </a:rP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491947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5200" y="4892040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杨辉宗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microarchitecture, hazard scheme, design document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166360"/>
            <a:ext cx="85953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904" y="52486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5200" y="5221224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吴宏庆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19 RTL modules, assembler, reference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" y="5495544"/>
            <a:ext cx="85953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904" y="5577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5200" y="5550408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王伟成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testbenches, trace diffing, performance measurement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What we propose to build, why we chose it, and </a:t>
            </a:r>
            <a:r>
              <a:rPr sz="1300" b="0">
                <a:solidFill>
                  <a:srgbClr val="2F6FA8"/>
                </a:solidFill>
                <a:latin typeface="Arial"/>
              </a:rPr>
              <a:t>the prototype that already shows it works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2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THE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are building, and how it will be judged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46634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COURSE TASK, VERBATIM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A2419"/>
                </a:solidFill>
                <a:latin typeface="Arial"/>
              </a:rPr>
              <a:t>"Design a pipeline CPU based on MIPS/RISC-V or other instruction subsets with more than 16 instructions. And implement the CPU by Verilog HDL. Use the simulation tools to show the function and performance of your CPU."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35204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55C4C"/>
                </a:solidFill>
                <a:latin typeface="Arial"/>
              </a:rPr>
              <a:t>"Bonus items: support interrupt, cache, branch prediction."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4114800"/>
            <a:ext cx="429768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4251960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40">
                <a:solidFill>
                  <a:srgbClr val="8F8674"/>
                </a:solidFill>
                <a:latin typeface="Consolas"/>
              </a:rPr>
              <a:t>EXPLICITLY OUT OF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" y="452628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No FPGA board bring-up. The task says simulation tools, so we deliver simulation plus a synthesis report on a named part. No instruction cache; the reasoning is on the next slide.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47664" y="1783080"/>
            <a:ext cx="60350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2256" y="192024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WE COMMIT TO 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544" y="224027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0120" y="221284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5-stage in-order RV32I pipeline, 46 encodings, full forwarding, load-use interlock, flush-based recovery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30544" y="2523744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30544" y="260603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x2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0120" y="257860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2-bit branch predictor and machine-mode interrupts, each measurable and each switchable off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30544" y="2889503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30544" y="297179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TOOLCHAIN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0120" y="294436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An assembler and an independent reference model, because the named tool cannot execute this ISA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0544" y="3255263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30544" y="333755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0120" y="3310127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self-checking test suite, a design document, and a synthesis report for xc7a35tcpg236-1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47664" y="3931920"/>
            <a:ext cx="60350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12256" y="406908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HOW WE WILL KNOW IT IS 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0544" y="43891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CORRECT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0120" y="4361688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Every instruction checked against an independent implementation, byte for byte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30544" y="4690872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30544" y="477316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FUNCTION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0120" y="4745736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Shown in simulation, every test stating its own PASS or FAIL verdict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30544" y="5074920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30544" y="515721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PERFORMANCE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0120" y="5129783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Measured by switching a feature off and re-running. A number with no baseline proves nothing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30544" y="5458968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30544" y="554126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SYNTHESIS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0120" y="5513831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An fmax and a utilisation figure on a named part, with the critical path identified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We are past proposing this on paper. </a:t>
            </a:r>
            <a:r>
              <a:rPr sz="1300" b="0">
                <a:solidFill>
                  <a:srgbClr val="2F6FA8"/>
                </a:solidFill>
                <a:latin typeface="Arial"/>
              </a:rPr>
              <a:t>A working prototype already meets every criterion above</a:t>
            </a:r>
            <a:r>
              <a:rPr sz="1300" b="0">
                <a:solidFill>
                  <a:srgbClr val="2A2419"/>
                </a:solidFill>
                <a:latin typeface="Arial"/>
              </a:rPr>
              <a:t>, and the rest of this talk is the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3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1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杨辉宗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Design — the specification the RTL was written against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Every decision below was made and written down before a line of Verilog existed, so the coder implemented a specification rather than inventing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MICROARCH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3800" y="2651760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Five-stage structure, pipeline-register fields, PC-select priority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12724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2095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3800" y="3182112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Instruction subset, all six formats, immediate extraction, CSR zimm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65759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73989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HAZARDS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3800" y="3712463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Forwarding rules and priority, load-use interlock, flush rules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18795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27024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3800" y="4242816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Harvard layout, sizes, byte lanes, misalignment policy, reset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471830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480060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TRAPS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3800" y="4773168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CSR set, mepc / mcause, the ecall versus interrupt asymmetry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52486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53309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3800" y="5303520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Read every RTL module against the spec before it was committed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encodings specified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37 core + 9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control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per instruction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1,819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spec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the living document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The 46-encoding ISA table and all six immediate formats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The 46-row control truth table, 22 signals wide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CSR, trap and mret semantics; docs/DESIGN.md kept current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Consolas"/>
              </a:rPr>
              <a:t>docs/DESIGN.md</a:t>
            </a:r>
            <a:r>
              <a:rPr sz="950" b="0">
                <a:solidFill>
                  <a:srgbClr val="655C4C"/>
                </a:solidFill>
                <a:latin typeface="Arial"/>
              </a:rPr>
              <a:t>. The control truth table is </a:t>
            </a:r>
            <a:r>
              <a:rPr sz="950" b="1">
                <a:solidFill>
                  <a:srgbClr val="655C4C"/>
                </a:solidFill>
                <a:latin typeface="Arial"/>
              </a:rPr>
              <a:t>generated from the same source</a:t>
            </a:r>
            <a:r>
              <a:rPr sz="950" b="0">
                <a:solidFill>
                  <a:srgbClr val="655C4C"/>
                </a:solidFill>
                <a:latin typeface="Arial"/>
              </a:rPr>
              <a:t> that generates the decoder's test vectors, so document and test cannot drift apart.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design document is not a write-up of what was built. It is </a:t>
            </a:r>
            <a:r>
              <a:rPr sz="1300" b="0">
                <a:solidFill>
                  <a:srgbClr val="2F6FA8"/>
                </a:solidFill>
                <a:latin typeface="Arial"/>
              </a:rPr>
              <a:t>what the build was checked against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4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46 encodings against a 16-instruction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COURSE MINIMUM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1993392"/>
            <a:ext cx="1828800" cy="182880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30144" y="195681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655C4C"/>
                </a:solidFill>
                <a:latin typeface="Consolas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237744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2F6FA8"/>
                </a:solidFill>
                <a:latin typeface="Consolas"/>
              </a:rPr>
              <a:t>IMPLEMENTED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" y="2587752"/>
            <a:ext cx="5257800" cy="182880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59144" y="255117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8"/>
                </a:solidFill>
                <a:latin typeface="Consolas"/>
              </a:rPr>
              <a:t>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504" y="255117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F8674"/>
                </a:solidFill>
                <a:latin typeface="Arial"/>
              </a:rPr>
              <a:t>2.9× the requirement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904" y="3127248"/>
            <a:ext cx="2633472" cy="32004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7920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R-TYPE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3296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add sub sll slt sltu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xor srl sra or 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9680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9680" y="3127248"/>
            <a:ext cx="2633472" cy="32004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17696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I-ARITHMETIC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3072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7696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addi slti sltiu xori ori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andi slli srli srai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9456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9456" y="3127248"/>
            <a:ext cx="2633472" cy="32004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7472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2848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7472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lb lh lw lbu lhu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sign / zero extended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49232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49232" y="3127248"/>
            <a:ext cx="2633472" cy="32004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7248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STORES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42624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248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sb sh sw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byte-lane writes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" y="40416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9904" y="4041648"/>
            <a:ext cx="2633472" cy="32004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7920" y="41879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BRANCHES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3296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" y="44439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beq bne blt bge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bltu bgeu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9680" y="40416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89680" y="4041648"/>
            <a:ext cx="2633472" cy="32004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17696" y="41879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U-TYPE &amp; JUMPS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3072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7696" y="44439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lui auipc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jal jalr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9456" y="4041648"/>
            <a:ext cx="5413248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69456" y="4041648"/>
            <a:ext cx="5413248" cy="32004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7472" y="41879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SYSTEM — THE INTERRUPT BONUS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42624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7472" y="44439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csrrw csrrs csrrc csrrwi csrrsi csrrci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ecall   ebreak   mret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904" y="539496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All 46 follow the RISC-V Unprivileged and Privileged specifications exactly.  fence and wfi decode as illegal.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F6FA8"/>
                </a:solidFill>
                <a:latin typeface="Consolas"/>
              </a:rPr>
              <a:t>ebreak</a:t>
            </a:r>
            <a:r>
              <a:rPr sz="1300" b="0">
                <a:solidFill>
                  <a:srgbClr val="2A2419"/>
                </a:solidFill>
                <a:latin typeface="Arial"/>
              </a:rPr>
              <a:t> doubles as the simulation halt. RV32I has no halt instruction, so it raises a done flag the testbench watches.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5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DESIGN CHOICES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chose, and what we ruled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37360"/>
            <a:ext cx="10972800" cy="420624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" y="212140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5784" y="212140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We chose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64" y="212140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Instead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9144" y="2121408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2368296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2432303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ISA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5784" y="2432303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RISC-V RV32I, 46 encodings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6064" y="2432303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9144" y="2432303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 clean orthogonal encoding we could assemble and model ourselves, and 2.9x the 16-instruction minimum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2834639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29077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5784" y="2907791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5-stage in-order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64" y="2907791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Single-cycle, or a deeper pipe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9144" y="2907791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shallowest design that still exposes all three hazard classes, which is the point of the exercise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784" y="3310127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2784" y="338327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Branches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5784" y="3383279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jal in ID, branches and jalr in 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64" y="3383279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Everything in one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9144" y="3383279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jal needs no register, so resolving it early is free. Branches need a compare, and doing it in EX keeps it off the decode path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2784" y="3785615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2784" y="385876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Bonus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5784" y="3858768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2-bit branch history 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6064" y="3858768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Static prediction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9144" y="3858768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Cheap in area, and its accuracy is a number we can report honestly, including where it loses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261104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33425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Bonus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5784" y="4334256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CSRs, traps and mret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6064" y="4334256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--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59144" y="4334256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Exercises privileged state and trap semantics, demonstrable from a testbench-driven interrupt line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784" y="4736592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92784" y="4773168"/>
            <a:ext cx="10607040" cy="438912"/>
          </a:xfrm>
          <a:prstGeom prst="rect">
            <a:avLst/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2784" y="48097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Bonus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5784" y="4809744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9A6410"/>
                </a:solidFill>
                <a:latin typeface="Arial"/>
              </a:rPr>
              <a:t>Instruction cache - CUT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6064" y="4809744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Building it anyway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9144" y="4809744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Behind a single-cycle memory a hit and a miss cost the same, so CPI would not move, and the suite fits in 2 KB so the hit rate reads ~99 %. Designed and written up, not built.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784" y="5212080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2784" y="528523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Reference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5784" y="5285231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Our own Python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6064" y="5285231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Mars4_5, as the brief names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59144" y="5285231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Mars executes MIPS. It cannot assemble or check RISC-V, so there was no oracle to borrow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5687568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2784" y="576071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5784" y="5760719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Simulation + synthesis report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76064" y="5760719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FPGA board demo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9144" y="5760719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brief asks for simulation. Synthesis still yields fmax and utilisation without board bring-up risk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2784" y="6163055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cache was cut on a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</a:t>
            </a:r>
            <a:r>
              <a:rPr sz="1300" b="0">
                <a:solidFill>
                  <a:srgbClr val="2A2419"/>
                </a:solidFill>
                <a:latin typeface="Arial"/>
              </a:rPr>
              <a:t> argument, not a schedule one. A figure that reads 99 % on every program says nothing about the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6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DATAPATH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Five stages, three bypasses, one interlock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4" y="2331720"/>
            <a:ext cx="1965960" cy="274320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63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pc.v + PC-select mux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63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imem.v  4 KB sync read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63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bht.v 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816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5018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50184" y="2331720"/>
            <a:ext cx="1965960" cy="274320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991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control.v · alu_ctrl.v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991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regfile.v read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991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imm_gen.v  6 formats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844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90464" y="2331720"/>
            <a:ext cx="1965960" cy="1965960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90464" y="2331720"/>
            <a:ext cx="1965960" cy="274320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00192" y="2715768"/>
            <a:ext cx="1746504" cy="402336"/>
          </a:xfrm>
          <a:prstGeom prst="rect">
            <a:avLst/>
          </a:prstGeom>
          <a:solidFill>
            <a:srgbClr val="EFE2CC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forward mux A / B /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0019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alu.v  11 operations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0019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branch_unit.v · csr.v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872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3074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30744" y="2331720"/>
            <a:ext cx="1965960" cy="274320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047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dmem.v  4 KB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047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byte-lane select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900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7102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71024" y="2331720"/>
            <a:ext cx="1965960" cy="274320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8075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lane extend + wb mux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8075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regfile write  (x0 dropped)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075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commit trace 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100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IF/ID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128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ID/EX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156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EX/MEM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184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MEM/WB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073444" y="4553712"/>
            <a:ext cx="1120140" cy="0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93584" y="4297679"/>
            <a:ext cx="0" cy="256033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73444" y="3118103"/>
            <a:ext cx="0" cy="1435609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285024" y="443484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9A6410"/>
                </a:solidFill>
                <a:latin typeface="Consolas"/>
              </a:rPr>
              <a:t>EX/MEM → EX   distance 1   priority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433864" y="4297679"/>
            <a:ext cx="0" cy="640080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53404" y="4937759"/>
            <a:ext cx="3680460" cy="0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753404" y="3118103"/>
            <a:ext cx="0" cy="1819656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25304" y="4754879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A6410"/>
                </a:solidFill>
                <a:latin typeface="Consolas"/>
              </a:rPr>
              <a:t>MEM/WB → EX  distance 2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9A6410"/>
                </a:solidFill>
                <a:latin typeface="Consolas"/>
              </a:rPr>
              <a:t>carries load data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3833164" y="2130551"/>
            <a:ext cx="0" cy="201169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21384" y="2130551"/>
            <a:ext cx="2811780" cy="0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1384" y="2130551"/>
            <a:ext cx="0" cy="201169"/>
          </a:xfrm>
          <a:prstGeom prst="line">
            <a:avLst/>
          </a:prstGeom>
          <a:ln w="15875">
            <a:solidFill>
              <a:srgbClr val="A832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942892" y="2011679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83226"/>
                </a:solidFill>
                <a:latin typeface="Consolas"/>
              </a:rPr>
              <a:t>jal target — ID, 1 bubble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6073444" y="1874519"/>
            <a:ext cx="0" cy="457201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92784" y="1874519"/>
            <a:ext cx="5280660" cy="0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2784" y="1874519"/>
            <a:ext cx="0" cy="457201"/>
          </a:xfrm>
          <a:prstGeom prst="line">
            <a:avLst/>
          </a:prstGeom>
          <a:ln w="15875">
            <a:solidFill>
              <a:srgbClr val="A832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83172" y="1755648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83226"/>
                </a:solidFill>
                <a:latin typeface="Consolas"/>
              </a:rPr>
              <a:t>branch · jalr · mtvec · mepc — EX, 2 bubbles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53304" y="4297679"/>
            <a:ext cx="0" cy="1024128"/>
          </a:xfrm>
          <a:prstGeom prst="line">
            <a:avLst/>
          </a:prstGeom>
          <a:ln w="15875">
            <a:solidFill>
              <a:srgbClr val="6B54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158544" y="5321807"/>
            <a:ext cx="3794760" cy="0"/>
          </a:xfrm>
          <a:prstGeom prst="line">
            <a:avLst/>
          </a:prstGeom>
          <a:ln w="15875">
            <a:solidFill>
              <a:srgbClr val="6B54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58544" y="4297679"/>
            <a:ext cx="0" cy="1024128"/>
          </a:xfrm>
          <a:prstGeom prst="line">
            <a:avLst/>
          </a:prstGeom>
          <a:ln w="15875">
            <a:solidFill>
              <a:srgbClr val="6B54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44744" y="5202936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54A8"/>
                </a:solidFill>
                <a:latin typeface="Consolas"/>
              </a:rPr>
              <a:t>load-use interlock — hold PC and IF/ID, bubble ID/EX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stage boundary is an explicit register with </a:t>
            </a:r>
            <a:r>
              <a:rPr sz="1300" b="0">
                <a:solidFill>
                  <a:srgbClr val="2F6FA8"/>
                </a:solidFill>
                <a:latin typeface="Arial"/>
              </a:rPr>
              <a:t>stall</a:t>
            </a:r>
            <a:r>
              <a:rPr sz="1300" b="0">
                <a:solidFill>
                  <a:srgbClr val="2A2419"/>
                </a:solidFill>
                <a:latin typeface="Arial"/>
              </a:rPr>
              <a:t> and </a:t>
            </a:r>
            <a:r>
              <a:rPr sz="1300" b="0">
                <a:solidFill>
                  <a:srgbClr val="2F6FA8"/>
                </a:solidFill>
                <a:latin typeface="Arial"/>
              </a:rPr>
              <a:t>flush</a:t>
            </a:r>
            <a:r>
              <a:rPr sz="1300" b="0">
                <a:solidFill>
                  <a:srgbClr val="2A2419"/>
                </a:solidFill>
                <a:latin typeface="Arial"/>
              </a:rPr>
              <a:t> inputs, so the hazard logic plugs in without touching the datapath.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already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Every commitment on the objective slide has been met once already, on a prototype that runs today. The schedule on the next slide is what remains.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240280"/>
            <a:ext cx="5340096" cy="35661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77440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BUILT AND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72491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2360" y="269748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Microarchitecture, hazards, memory and the 46-row control truth table, documented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46557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5478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2360" y="352044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19 Verilog modules; the machine executes all 46 encodings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428853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437083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2360" y="434340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Branch predictor, with accuracy and cycle deltas measured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2608" y="2240280"/>
            <a:ext cx="5340096" cy="35661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488" y="272491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5064" y="269748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Interrupts. Trap entry, ISR and mret, all diff-tested against the reference model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25488" y="346557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25488" y="35478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5064" y="352044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Every suite green at all four build configurations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5488" y="428853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25488" y="437083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SYNTHESIS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5064" y="434340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Placed and routed; setup timing met at 74 MHz on the target part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specification came first and the implementation followed it. </a:t>
            </a:r>
            <a:r>
              <a:rPr sz="1300" b="0">
                <a:solidFill>
                  <a:srgbClr val="2F6FA8"/>
                </a:solidFill>
                <a:latin typeface="Arial"/>
              </a:rPr>
              <a:t>That order is why the schedule on the next slide is credible.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8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hand over, who owns it, and when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585216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DELIVERABLES, ONE OWNER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Artefact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3184" y="2240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904" y="22402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248716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255117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Design document and control truth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3184" y="255117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904" y="255117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784" y="280720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2784" y="28803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19 RTL modules, plain Verilog-2001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3184" y="288036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904" y="288036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" y="3136391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2784" y="32095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Assembler and reference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3184" y="3209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Coding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904" y="320954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346557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3538727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Self-checking test 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3184" y="353872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904" y="3538727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2784" y="379475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784" y="3867911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Performance measurements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3184" y="386791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904" y="3867911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preliminary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12394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19709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Synthesis report: fmax and utilisation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3184" y="41970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904" y="419709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one run left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2784" y="445312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2784" y="45262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Live demo and 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3184" y="4526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All three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1904" y="45262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Sep 16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478231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36384" y="1783080"/>
            <a:ext cx="4846320" cy="1874519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00976" y="1920240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MILESTONES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9264" y="224027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11-12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8840" y="2212848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Apply the two timing improvements; full regression after each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919264" y="2441448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19264" y="252374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13-14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8840" y="2496312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Final synthesis run; lock the performance chapter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19264" y="2724912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19264" y="280720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8840" y="2779776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Feature freeze - bugfix and measurement only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19264" y="3008376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19264" y="30906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8840" y="3063240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Demo script, waveform captures, rehearsal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919264" y="3291840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19264" y="33741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8840" y="3346704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Final presentation and demo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36384" y="3840480"/>
            <a:ext cx="4846320" cy="210312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00976" y="3977640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RISKS, AND WHAT WE DO ABOUT 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19264" y="429768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TIMING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0280" y="427024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If the two improvements do not close cleanly by Sep 14, we freeze on the 74 MHz build that is already verified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919264" y="4764024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919264" y="484632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REGRESSION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0280" y="481888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One change moves when a load result is available, so it can shift CPI. Figures are re-measured after the freeze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919264" y="5312664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919264" y="539495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TOOLCHAIN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0280" y="5367527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If Vivado 2019.2 is required, the RTL is plain Verilog-2001 with no IP and a project script is committed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deliverable has </a:t>
            </a:r>
            <a:r>
              <a:rPr sz="1300" b="0">
                <a:solidFill>
                  <a:srgbClr val="2F6FA8"/>
                </a:solidFill>
                <a:latin typeface="Arial"/>
              </a:rPr>
              <a:t>exactly one owner</a:t>
            </a:r>
            <a:r>
              <a:rPr sz="1300" b="0">
                <a:solidFill>
                  <a:srgbClr val="2A2419"/>
                </a:solidFill>
                <a:latin typeface="Arial"/>
              </a:rPr>
              <a:t>, and cross-review is by reading each other's work, not by silent edits.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9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2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吴宏庆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Coding — the RTL, and the toolchain it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The course names Mars4_5 as the simulator, but Mars executes MIPS. Building a RISC-V machine meant building the tools to assemble and check it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3800" y="265176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All 19 modules: pipeline registers, datapath, hazard logic, CSR file, BHT, counters, memories, top level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236975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31927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ASSEMBLER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3800" y="3291839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Two-pass, six formats, directives and pseudo-ops, emits a $readmemh image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8770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9593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3800" y="393192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 second implementation of the ISA in Python, emitting the commit trace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51713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59943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3800" y="457200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xsim batch flow and the non-project synthesis flow, both scripted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515721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52395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3800" y="521208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Every failure the tester raised, re-verified by their regression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RTL modules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Verilog-2001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861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assembler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asm.py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589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ISS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iss.py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19 synthesizable modules, no vendor IP, no block design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asm.py and iss.py, cross-validated against each other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sim/run.sh and vivado/synth.sh, reproducible from the shell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Consolas"/>
              </a:rPr>
              <a:t>rtl/</a:t>
            </a:r>
            <a:r>
              <a:rPr sz="950" b="0">
                <a:solidFill>
                  <a:srgbClr val="655C4C"/>
                </a:solidFill>
                <a:latin typeface="Arial"/>
              </a:rPr>
              <a:t> and </a:t>
            </a:r>
            <a:r>
              <a:rPr sz="950" b="0">
                <a:solidFill>
                  <a:srgbClr val="655C4C"/>
                </a:solidFill>
                <a:latin typeface="Consolas"/>
              </a:rPr>
              <a:t>tools/</a:t>
            </a:r>
            <a:r>
              <a:rPr sz="950" b="0">
                <a:solidFill>
                  <a:srgbClr val="655C4C"/>
                </a:solidFill>
                <a:latin typeface="Arial"/>
              </a:rPr>
              <a:t>. The machine executes all 46 encodings and places and routes at </a:t>
            </a:r>
            <a:r>
              <a:rPr sz="950" b="1">
                <a:solidFill>
                  <a:srgbClr val="655C4C"/>
                </a:solidFill>
                <a:latin typeface="Arial"/>
              </a:rPr>
              <a:t>74 MHz</a:t>
            </a:r>
            <a:r>
              <a:rPr sz="950" b="0">
                <a:solidFill>
                  <a:srgbClr val="655C4C"/>
                </a:solidFill>
                <a:latin typeface="Arial"/>
              </a:rPr>
              <a:t> on the target part.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assembler and the reference model were </a:t>
            </a:r>
            <a:r>
              <a:rPr sz="1300" b="0">
                <a:solidFill>
                  <a:srgbClr val="2F6FA8"/>
                </a:solidFill>
                <a:latin typeface="Arial"/>
              </a:rPr>
              <a:t>cross-validated against each other before any RTL existed</a:t>
            </a:r>
            <a:r>
              <a:rPr sz="1300" b="0">
                <a:solidFill>
                  <a:srgbClr val="2A2419"/>
                </a:solidFill>
                <a:latin typeface="Arial"/>
              </a:rPr>
              <a:t>, so the oracle was trustworthy on day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DATA HAZARDS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Forwarding: two distances, one priority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DISTANCE 1 — PRODUCER IS IN MEM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22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072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423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773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24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7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2722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90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addi x5, x0,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722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072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423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773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124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 x6, x5, x5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072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423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7736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1240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4744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21200" y="2596896"/>
            <a:ext cx="0" cy="146304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12640" y="25786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>
                <a:solidFill>
                  <a:srgbClr val="9A6410"/>
                </a:solidFill>
                <a:latin typeface="Consolas"/>
              </a:rPr>
              <a:t>fwd = 2'b10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62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DISTANCE 2 — PRODUCER IS IN WB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79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144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495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845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196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546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8794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7062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addi x5, x0,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8794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9144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9495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9845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0196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062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nop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144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9495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8456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01960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5464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0624" y="31821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 x6, x5, x5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9495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98456" y="3145536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01960" y="3145536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05464" y="3145536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485424" y="2596896"/>
            <a:ext cx="0" cy="548640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576864" y="2779775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>
                <a:solidFill>
                  <a:srgbClr val="9A6410"/>
                </a:solidFill>
                <a:latin typeface="Consolas"/>
              </a:rPr>
              <a:t>fwd = 2'b01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6304" y="1737360"/>
            <a:ext cx="0" cy="219456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4160520"/>
            <a:ext cx="10972800" cy="868680"/>
          </a:xfrm>
          <a:prstGeom prst="rect">
            <a:avLst/>
          </a:prstGeom>
          <a:solidFill>
            <a:srgbClr val="EFE2CC"/>
          </a:solidFill>
          <a:ln w="1587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4496" y="4288536"/>
            <a:ext cx="106436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9A6410"/>
                </a:solidFill>
                <a:latin typeface="Consolas"/>
              </a:rPr>
              <a:t>PRIORITY — WHEN BOTH MATCH, EX/MEM WINS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4496" y="4526280"/>
            <a:ext cx="106436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The instruction in MEM is the </a:t>
            </a:r>
            <a:r>
              <a:rPr sz="1000" b="1">
                <a:solidFill>
                  <a:srgbClr val="2A2419"/>
                </a:solidFill>
                <a:latin typeface="Arial"/>
              </a:rPr>
              <a:t>newer</a:t>
            </a:r>
            <a:r>
              <a:rPr sz="1000" b="0">
                <a:solidFill>
                  <a:srgbClr val="2A2419"/>
                </a:solidFill>
                <a:latin typeface="Arial"/>
              </a:rPr>
              <a:t> writer, so its value is the one the architecture says you read. Testing MEM/WB first resurrects the stale value.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96" y="4764024"/>
            <a:ext cx="106436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x5 = 100   then   x5 = x5 + 1   then   read x5      must see 101, while 100 is still sitting in MEM/WB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producer whose destination is </a:t>
            </a:r>
            <a:r>
              <a:rPr sz="1300" b="0">
                <a:solidFill>
                  <a:srgbClr val="2F6FA8"/>
                </a:solidFill>
                <a:latin typeface="Consolas"/>
              </a:rPr>
              <a:t>x0</a:t>
            </a:r>
            <a:r>
              <a:rPr sz="1300" b="0">
                <a:solidFill>
                  <a:srgbClr val="2A2419"/>
                </a:solidFill>
                <a:latin typeface="Arial"/>
              </a:rPr>
              <a:t> wrote nothing, so it is never forwarded. Otherwise x0 would read non-zero for exactly one instruction.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11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THE TWO HAZARDS FORWARDING CANNOT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One cycle for a load-use, two for a taken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6B54A8"/>
                </a:solidFill>
                <a:latin typeface="Consolas"/>
              </a:rPr>
              <a:t>LOAD-USE INTERLOCK — 1 STALL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22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072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423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773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24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7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824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7224" y="2231136"/>
            <a:ext cx="4224528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lw  x7, 0(x5)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2722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072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423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773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124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x8, x7, x0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072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423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37736" y="2743200"/>
            <a:ext cx="566928" cy="256032"/>
          </a:xfrm>
          <a:prstGeom prst="rect">
            <a:avLst/>
          </a:prstGeom>
          <a:solidFill>
            <a:srgbClr val="6B5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1240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4744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48248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" y="31821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sub x9, x8, 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3423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37736" y="3145536"/>
            <a:ext cx="566928" cy="256032"/>
          </a:xfrm>
          <a:prstGeom prst="rect">
            <a:avLst/>
          </a:prstGeom>
          <a:solidFill>
            <a:srgbClr val="6B5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1240" y="3145536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4744" y="3145536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48248" y="3145536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24704" y="2596896"/>
            <a:ext cx="0" cy="146304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9904" y="361188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6B54A8"/>
                </a:solidFill>
                <a:latin typeface="Consolas"/>
              </a:rPr>
              <a:t>violet = held. PC and IF/ID freeze, ID/EX takes a bubble.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850" b="0">
                <a:solidFill>
                  <a:srgbClr val="6B54A8"/>
                </a:solidFill>
                <a:latin typeface="Consolas"/>
              </a:rPr>
              <a:t>One cycle is always enough. By then the load is in WB.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96304" y="1737360"/>
            <a:ext cx="0" cy="219456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062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A83226"/>
                </a:solidFill>
                <a:latin typeface="Consolas"/>
              </a:rPr>
              <a:t>TAKEN BRANCH — 2 BUBBLES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506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856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207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557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908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258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60506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70624" y="23774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beq (taken)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506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856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1207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557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1908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0624" y="277977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branch + 4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0856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1207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5576" y="2743200"/>
            <a:ext cx="566928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15576" y="2743200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0624" y="31821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branch + 8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1207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5576" y="3145536"/>
            <a:ext cx="566928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15576" y="3145536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0624" y="35844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target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5576" y="3547872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19080" y="3547872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22584" y="3547872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0632" y="215798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A83226"/>
                </a:solidFill>
                <a:latin typeface="Consolas"/>
              </a:rPr>
              <a:t>resolved here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904" y="4160520"/>
            <a:ext cx="10972800" cy="4572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4496" y="4288536"/>
            <a:ext cx="106436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spc="120">
                <a:solidFill>
                  <a:srgbClr val="8F8674"/>
                </a:solidFill>
                <a:latin typeface="Consolas"/>
              </a:rPr>
              <a:t>COST    </a:t>
            </a:r>
            <a:r>
              <a:rPr sz="900" b="0">
                <a:solidFill>
                  <a:srgbClr val="2A2419"/>
                </a:solidFill>
                <a:latin typeface="Consolas"/>
              </a:rPr>
              <a:t>load-use 1 stall        jal 1 bubble        taken branch 2        jalr 2        ecall / interrupt / mret 2</a:t>
            </a:r>
            <a:r>
              <a:rPr sz="900" b="0">
                <a:solidFill>
                  <a:srgbClr val="8F8674"/>
                </a:solidFill>
                <a:latin typeface="Consolas"/>
              </a:rPr>
              <a:t>        wrong-path slots never write and never retire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redirect always overrides a stall: the instruction that raised the stall is </a:t>
            </a:r>
            <a:r>
              <a:rPr sz="1300" b="0">
                <a:solidFill>
                  <a:srgbClr val="2F6FA8"/>
                </a:solidFill>
                <a:latin typeface="Arial"/>
              </a:rPr>
              <a:t>being killed anyway</a:t>
            </a:r>
            <a:r>
              <a:rPr sz="1300" b="0">
                <a:solidFill>
                  <a:srgbClr val="2A2419"/>
                </a:solidFill>
                <a:latin typeface="Arial"/>
              </a:rPr>
              <a:t>, so waiting for it would deadlock the redirect.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12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BONUS A — BRANCH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64 two-bit counters, and an honest cost table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88912" y="1764791"/>
            <a:ext cx="0" cy="1133857"/>
          </a:xfrm>
          <a:prstGeom prst="line">
            <a:avLst/>
          </a:prstGeom>
          <a:ln w="9525">
            <a:solidFill>
              <a:srgbClr val="B7AA8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04464" y="1874519"/>
            <a:ext cx="1417320" cy="566928"/>
          </a:xfrm>
          <a:prstGeom prst="rect">
            <a:avLst/>
          </a:prstGeom>
          <a:solidFill>
            <a:srgbClr val="F7F3E8"/>
          </a:solidFill>
          <a:ln w="1905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46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46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strongly not taken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2178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2178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2178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78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4704" y="1874519"/>
            <a:ext cx="1417320" cy="566928"/>
          </a:xfrm>
          <a:prstGeom prst="rect">
            <a:avLst/>
          </a:prstGeom>
          <a:solidFill>
            <a:srgbClr val="F7F3E8"/>
          </a:solidFill>
          <a:ln w="1905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470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70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weakly not taken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4202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14202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4202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202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4944" y="1874519"/>
            <a:ext cx="1417320" cy="566928"/>
          </a:xfrm>
          <a:prstGeom prst="rect">
            <a:avLst/>
          </a:prstGeom>
          <a:solidFill>
            <a:srgbClr val="DCE6F0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494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94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weakly taken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6226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06226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6226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226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5184" y="1874519"/>
            <a:ext cx="1417320" cy="566928"/>
          </a:xfrm>
          <a:prstGeom prst="rect">
            <a:avLst/>
          </a:prstGeom>
          <a:solidFill>
            <a:srgbClr val="DCE6F0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6518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518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strongly taken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7584" y="2587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predict NOT TAKEN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2064" y="2587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2F6FA8"/>
                </a:solidFill>
                <a:latin typeface="Consolas"/>
              </a:rPr>
              <a:t>predict TAKEN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33364" y="1563623"/>
            <a:ext cx="0" cy="310896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24704" y="1399031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9A6410"/>
                </a:solidFill>
                <a:latin typeface="Consolas"/>
              </a:rPr>
              <a:t>reset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" y="1874519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64 entries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index pc[7:2]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untagged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prediction = state[1]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904" y="2880360"/>
            <a:ext cx="6126480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4496" y="3017520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IT COSTS, BY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" y="333756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0104" y="333756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Outcome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7424" y="3337560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Bubbles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4664" y="333756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784" y="3584448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2784" y="364845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0104" y="364845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7424" y="364845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3E7A4A"/>
                </a:solidFill>
                <a:latin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9256" y="364845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the fall-through was already being fetched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3895344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2784" y="39593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0104" y="39593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27424" y="395935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2F6FA8"/>
                </a:solidFill>
                <a:latin typeface="Consolas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9256" y="39593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the ID redirect kills one instruction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2784" y="4206240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92784" y="427024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10104" y="427024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7424" y="427024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A83226"/>
                </a:solidFill>
                <a:latin typeface="Consola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9256" y="42702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EX redirect kills ID and IF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92784" y="4517136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92784" y="458114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10104" y="458114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7424" y="45811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A83226"/>
                </a:solidFill>
                <a:latin typeface="Consola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9256" y="45811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wrong target fetched, then re-fetch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92784" y="4828031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010704" y="2880360"/>
            <a:ext cx="4572000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75296" y="3017520"/>
            <a:ext cx="4242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EACH STEP HAPPENS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3584" y="336499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LOOKUP — IF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93200" y="333756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indexed by the fetch PC, in parallel with the fetch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193584" y="378561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193584" y="38679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CARRY — IF/ID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93200" y="384048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the counter state travels with the instruction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193584" y="428853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193584" y="43708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ACT —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93200" y="434340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redirect to PC + immB, the 1-bubble path jal uses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193584" y="479145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193584" y="487375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RESOLVE — 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93200" y="484632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compare with the real outcome; flush 2 on a mispredict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193584" y="529437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193584" y="53766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UPDATE — EX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93200" y="534924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saturating increment or decrement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There is no target buffer. The target is PC + immB, which ID already computes. That saves a tagged CAM and </a:t>
            </a:r>
            <a:r>
              <a:rPr sz="1300" b="0">
                <a:solidFill>
                  <a:srgbClr val="2F6FA8"/>
                </a:solidFill>
                <a:latin typeface="Arial"/>
              </a:rPr>
              <a:t>costs one bubble on a correct taken prediction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13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BONUS B — INTERRUPTS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trap point is EX, so mepc is always a real 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1464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8120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4776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432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088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4744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1400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61464" y="1984248"/>
            <a:ext cx="4736592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996488" y="1984248"/>
            <a:ext cx="676656" cy="2359152"/>
          </a:xfrm>
          <a:prstGeom prst="rect">
            <a:avLst/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" y="21214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I(n−2)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61464" y="2093976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8120" y="2093976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4776" y="2093976"/>
            <a:ext cx="640080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936" y="212140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3E7A4A"/>
                </a:solidFill>
                <a:latin typeface="Consolas"/>
              </a:rPr>
              <a:t>retires normally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50545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I(n−1)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61464" y="2478024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8120" y="2478024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4776" y="2478024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91432" y="2478024"/>
            <a:ext cx="640080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936" y="2505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3E7A4A"/>
                </a:solidFill>
                <a:latin typeface="Consolas"/>
              </a:rPr>
              <a:t>retires normally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" y="2889503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Consolas"/>
              </a:rPr>
              <a:t>I(n)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1464" y="2862072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8120" y="2862072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4776" y="2862072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91432" y="2862072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91432" y="2862072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0936" y="2889503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A83226"/>
                </a:solidFill>
                <a:latin typeface="Consolas"/>
              </a:rPr>
              <a:t>SQUASHED — never retires, never traced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" y="3273551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I(n+1)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8120" y="3246120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4776" y="3246120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91432" y="3246120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91432" y="324612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0936" y="3273551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killed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" y="3657599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I(n+2)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4776" y="3630168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91432" y="3630168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91432" y="36301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0936" y="3657599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killed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904" y="404164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ISR[0]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91432" y="4014216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68088" y="4014216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44744" y="4014216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21400" y="4014216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0936" y="404164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F6FA8"/>
                </a:solidFill>
                <a:latin typeface="Consolas"/>
              </a:rPr>
              <a:t>handler at mtvec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4816" y="1984248"/>
            <a:ext cx="0" cy="2304288"/>
          </a:xfrm>
          <a:prstGeom prst="line">
            <a:avLst/>
          </a:prstGeom>
          <a:ln w="15875">
            <a:solidFill>
              <a:srgbClr val="9A641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9904" y="4480560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irq sampled with a valid instruction in 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" y="4681728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mepc ← PC of I(n)   ·   mcause ← 0x8000000B   ·   MPIE ← MIE, MIE ← 0   ·   PC ← mtvec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904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4496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ECALL — SYNCHRONOUS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96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mcause = 11</a:t>
            </a:r>
            <a:r>
              <a:rPr sz="900" b="0">
                <a:solidFill>
                  <a:srgbClr val="655C4C"/>
                </a:solidFill>
                <a:latin typeface="Arial"/>
              </a:rPr>
              <a:t>. mepc points </a:t>
            </a:r>
            <a:r>
              <a:rPr sz="900" b="1">
                <a:solidFill>
                  <a:srgbClr val="655C4C"/>
                </a:solidFill>
                <a:latin typeface="Arial"/>
              </a:rPr>
              <a:t>at the ecall</a:t>
            </a:r>
            <a:r>
              <a:rPr sz="900" b="0">
                <a:solidFill>
                  <a:srgbClr val="655C4C"/>
                </a:solidFill>
                <a:latin typeface="Arial"/>
              </a:rPr>
              <a:t>, which has not completed. The handler </a:t>
            </a:r>
            <a:r>
              <a:rPr sz="900" b="1">
                <a:solidFill>
                  <a:srgbClr val="655C4C"/>
                </a:solidFill>
                <a:latin typeface="Arial"/>
              </a:rPr>
              <a:t>must add 4</a:t>
            </a:r>
            <a:r>
              <a:rPr sz="900" b="0">
                <a:solidFill>
                  <a:srgbClr val="655C4C"/>
                </a:solidFill>
                <a:latin typeface="Arial"/>
              </a:rPr>
              <a:t> before mret.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4560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99152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INTERRUPT — ASYNCHRONOUS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9152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mcause = 0x8000000B</a:t>
            </a:r>
            <a:r>
              <a:rPr sz="900" b="0">
                <a:solidFill>
                  <a:srgbClr val="655C4C"/>
                </a:solidFill>
                <a:latin typeface="Arial"/>
              </a:rPr>
              <a:t>. mepc points at an instruction that </a:t>
            </a:r>
            <a:r>
              <a:rPr sz="900" b="1">
                <a:solidFill>
                  <a:srgbClr val="655C4C"/>
                </a:solidFill>
                <a:latin typeface="Arial"/>
              </a:rPr>
              <a:t>never executed</a:t>
            </a:r>
            <a:r>
              <a:rPr sz="900" b="0">
                <a:solidFill>
                  <a:srgbClr val="655C4C"/>
                </a:solidFill>
                <a:latin typeface="Arial"/>
              </a:rPr>
              <a:t>. The handler </a:t>
            </a:r>
            <a:r>
              <a:rPr sz="900" b="1">
                <a:solidFill>
                  <a:srgbClr val="655C4C"/>
                </a:solidFill>
                <a:latin typeface="Arial"/>
              </a:rPr>
              <a:t>must not add 4</a:t>
            </a:r>
            <a:r>
              <a:rPr sz="900" b="0">
                <a:solidFill>
                  <a:srgbClr val="655C4C"/>
                </a:solidFill>
                <a:latin typeface="Arial"/>
              </a:rPr>
              <a:t>. mret re-runs it.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59216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3808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LEVEL, NOT PULSE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3808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irq</a:t>
            </a:r>
            <a:r>
              <a:rPr sz="900" b="0">
                <a:solidFill>
                  <a:srgbClr val="655C4C"/>
                </a:solidFill>
                <a:latin typeface="Arial"/>
              </a:rPr>
              <a:t> is qualified by mstatus.MIE and mie.MEIE. A request raised inside the handler is </a:t>
            </a:r>
            <a:r>
              <a:rPr sz="900" b="1">
                <a:solidFill>
                  <a:srgbClr val="655C4C"/>
                </a:solidFill>
                <a:latin typeface="Arial"/>
              </a:rPr>
              <a:t>held, not lost</a:t>
            </a:r>
            <a:r>
              <a:rPr sz="900" b="0">
                <a:solidFill>
                  <a:srgbClr val="655C4C"/>
                </a:solidFill>
                <a:latin typeface="Arial"/>
              </a:rPr>
              <a:t>, and taken when mret restores MIE.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That asymmetry, </a:t>
            </a:r>
            <a:r>
              <a:rPr sz="1300" b="0">
                <a:solidFill>
                  <a:srgbClr val="2F6FA8"/>
                </a:solidFill>
                <a:latin typeface="Arial"/>
              </a:rPr>
              <a:t>ecall advances mepc and an interrupt must not</a:t>
            </a:r>
            <a:r>
              <a:rPr sz="1300" b="0">
                <a:solidFill>
                  <a:srgbClr val="2A2419"/>
                </a:solidFill>
                <a:latin typeface="Arial"/>
              </a:rPr>
              <a:t>, is the single most common trap-handling bug.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14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SYNTHESIS — VIVADO 2026.1, xc7a35tcpg236-1, POST PLACE-AND-ROUTE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Setup timing met at 74 MHz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" y="190195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1,461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" y="23317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" y="240487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7.0 % of the device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9056" y="1783080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5360" y="190195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819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5360" y="23317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flip-flops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5360" y="240487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2.0 % of the 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" y="2770632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6208" y="288950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" y="33192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block 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" y="339242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IMEM + DMEM, 4 % of 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9056" y="2770632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5360" y="288950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5360" y="33192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LUTs as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5360" y="339242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the 32x32 register 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56224" y="1783080"/>
            <a:ext cx="6126480" cy="1911095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0816" y="1920240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CONSTRAINT SWEEP — WHERE IT CLOSES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9104" y="22128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7904" y="2212848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9464" y="22128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584" y="221284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Failing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8264" y="221284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Result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39104" y="2459736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39104" y="252374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base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7904" y="252374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10.0 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9464" y="25237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−2.483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584" y="252374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423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8264" y="25237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39104" y="2770632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39104" y="283463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67904" y="283463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10.0 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9464" y="283463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−3.235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584" y="2834639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555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8264" y="283463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39104" y="3081527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39104" y="3145535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7904" y="3145535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12.5 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9464" y="3145535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−0.755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9584" y="3145535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306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48264" y="31455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39104" y="3392423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639104" y="3419855"/>
            <a:ext cx="5760720" cy="274320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39104" y="3456431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7904" y="3456431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13.5 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9464" y="345643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+0.052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79584" y="3456431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48264" y="345643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met — 74 MHz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39104" y="3703319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39104" y="3785615"/>
            <a:ext cx="5760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three points agree to within 1.6 % on 1/(T − WNS). The speed is a property of the design, not of the constraint. Register-to-register hold is met at every point.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904" y="3931920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CRITICAL PATH — A LOAD FEEDING A BRANCH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904" y="4169663"/>
            <a:ext cx="1706879" cy="658368"/>
          </a:xfrm>
          <a:prstGeom prst="rect">
            <a:avLst/>
          </a:prstGeom>
          <a:solidFill>
            <a:srgbClr val="EFE2CC"/>
          </a:solidFill>
          <a:ln w="1905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01344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DMEM block RAM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clock to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1344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9A6410"/>
                </a:solidFill>
                <a:latin typeface="Consolas"/>
              </a:rPr>
              <a:t>2.454 ns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6784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463088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54528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byte-lane select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+ sign extension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54528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in WB · 2 x LUT6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69968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316272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07712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MEM/WB to EX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forwarding mux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7712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load into a branch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023152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69456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0896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branch comparator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branch_unit.v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0896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3 x CARRY4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76336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022640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114080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redirect / flush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reduction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729520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875824" y="4169663"/>
            <a:ext cx="1706879" cy="658368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67264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PC register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clock enable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7264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2F6FA8"/>
                </a:solidFill>
                <a:latin typeface="Consolas"/>
              </a:rPr>
              <a:t>endpoint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904" y="4937760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12.982 ns</a:t>
            </a:r>
            <a:r>
              <a:rPr sz="900" b="0">
                <a:solidFill>
                  <a:srgbClr val="2A2419"/>
                </a:solidFill>
                <a:latin typeface="Consolas"/>
              </a:rPr>
              <a:t> total        15 logic levels        65 % routing        </a:t>
            </a:r>
            <a:r>
              <a:rPr sz="900" b="0">
                <a:solidFill>
                  <a:srgbClr val="8F8674"/>
                </a:solidFill>
                <a:latin typeface="Consolas"/>
              </a:rPr>
              <a:t>Fixes designed: register the lane extension into WB · precompute the forwarding match bits in ID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74 MHz is measured, not estimated, and the path that limits it is identified. That makes the two planned fixes a </a:t>
            </a:r>
            <a:r>
              <a:rPr sz="1300" b="0">
                <a:solidFill>
                  <a:srgbClr val="2F6FA8"/>
                </a:solidFill>
                <a:latin typeface="Arial"/>
              </a:rPr>
              <a:t>scheduled task rather than a hope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15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3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王伟成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Testing — proving it, and measuring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Nothing here is judged by looking at a waveform. Every test states its own verdict, and every golden value comes from the reference model rather than from a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5240" y="2651760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three-tier strategy and the pass criteria for each tier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12724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20954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5240" y="3182112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 testbench for every module that is not pure wiring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65759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739896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PROGRAMS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5240" y="3712463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One program per encoding, plus nine directed hazard programs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18795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27024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DIFFING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5240" y="4242816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RTL-versus-reference trace harness and the regression driver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471830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480060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MEASUREMENT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5240" y="4773168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CPI with forwarding on and off, predictor accuracy, synthesis reporting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52486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533095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5240" y="5303520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demo script and the evidence captures for the final presentation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26,447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unit vectors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11 testbenches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programs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run at 4 configs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trace diffs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against the ISS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11 unit testbenches totalling 26,447 vectors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68 assembly programs and the trace-diff harness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Mutation checks: every testbench shown to FAIL against a broken module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Green at </a:t>
            </a:r>
            <a:r>
              <a:rPr sz="950" b="1">
                <a:solidFill>
                  <a:srgbClr val="655C4C"/>
                </a:solidFill>
                <a:latin typeface="Arial"/>
              </a:rPr>
              <a:t>all four</a:t>
            </a:r>
            <a:r>
              <a:rPr sz="950" b="0">
                <a:solidFill>
                  <a:srgbClr val="655C4C"/>
                </a:solidFill>
                <a:latin typeface="Arial"/>
              </a:rPr>
              <a:t> FORWARDING × BHT_ENABLE configurations, byte-exact against the reference model.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test that has never been shown to fail is </a:t>
            </a:r>
            <a:r>
              <a:rPr sz="1300" b="0">
                <a:solidFill>
                  <a:srgbClr val="2F6FA8"/>
                </a:solidFill>
                <a:latin typeface="Arial"/>
              </a:rPr>
              <a:t>not yet evidence</a:t>
            </a:r>
            <a:r>
              <a:rPr sz="1300" b="0">
                <a:solidFill>
                  <a:srgbClr val="2A2419"/>
                </a:solidFill>
                <a:latin typeface="Arial"/>
              </a:rPr>
              <a:t>. That is why the mutation checks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16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Three tiers, and nothing checked by eye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874519"/>
            <a:ext cx="10972800" cy="1133856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4" y="1874519"/>
            <a:ext cx="45720" cy="113385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" y="20391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2F6FA8"/>
                </a:solidFill>
                <a:latin typeface="Consolas"/>
              </a:rPr>
              <a:t>TIER 3 — DIFFERENTIAL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" y="2295144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A second, independent implementation of the same instruction set, written in Python without reference to the Verilog.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" y="2642615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Both execute the same image and emit the same commit-trace format. The files are diffed line by line, so a mismatch names the exact retiring instruction.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0944" y="227685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>
                <a:solidFill>
                  <a:srgbClr val="2F6FA8"/>
                </a:solidFill>
                <a:latin typeface="Consolas"/>
              </a:rPr>
              <a:t>iss.py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3172968"/>
            <a:ext cx="10972800" cy="1133856"/>
          </a:xfrm>
          <a:prstGeom prst="rect">
            <a:avLst/>
          </a:prstGeom>
          <a:solidFill>
            <a:srgbClr val="F7F3E8"/>
          </a:solidFill>
          <a:ln w="1270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904" y="3172968"/>
            <a:ext cx="45720" cy="1133856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" y="333756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TIER 2 — SELF-CHECKING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" y="3593591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A standalone testbench for every module that is not pure wiring, plus one assembly program per encoding with golden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" y="3941063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Every vector is generated by the already cross-validated tools, never by a second hand-written copy of the logic being tested.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944" y="3575303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>
                <a:solidFill>
                  <a:srgbClr val="655C4C"/>
                </a:solidFill>
                <a:latin typeface="Consolas"/>
              </a:rPr>
              <a:t>11 + 46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4471416"/>
            <a:ext cx="10972800" cy="1133856"/>
          </a:xfrm>
          <a:prstGeom prst="rect">
            <a:avLst/>
          </a:prstGeom>
          <a:solidFill>
            <a:srgbClr val="F7F3E8"/>
          </a:solidFill>
          <a:ln w="1270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9904" y="4471416"/>
            <a:ext cx="45720" cy="1133856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5936" y="4636007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TIER 1 — THE BATCH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" y="4892040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Every simulation runs through the same three commands in batch mode: no GUI, no waveform viewer, no human judgement in the loop.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" y="523951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A run exits zero only if the log contains a PASS line and no FAIL line, so a regression cannot pass by being ignored.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0944" y="48737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655C4C"/>
                </a:solidFill>
                <a:latin typeface="Consolas"/>
              </a:rPr>
              <a:t>xvlog / xelab / xsim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" y="5870448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The commit trace is  &lt;pc&gt; &lt;insn&gt; x&lt;rd&gt;=&lt;value&gt; mem[&lt;addr&gt;]=&lt;value&gt;  — the same line from the RTL write-back stage and from the reference model.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trace diff localises a bug to </a:t>
            </a:r>
            <a:r>
              <a:rPr sz="1300" b="0">
                <a:solidFill>
                  <a:srgbClr val="2F6FA8"/>
                </a:solidFill>
                <a:latin typeface="Arial"/>
              </a:rPr>
              <a:t>one retiring instruction</a:t>
            </a:r>
            <a:r>
              <a:rPr sz="1300" b="0">
                <a:solidFill>
                  <a:srgbClr val="2A2419"/>
                </a:solidFill>
                <a:latin typeface="Arial"/>
              </a:rPr>
              <a:t>. For a five-stage pipeline that is an afternoon of debugging instead of a week.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Green at every build 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" y="19019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26,447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" y="233172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unit-level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" y="238658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across 11 testbenches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0536" y="1783080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6840" y="19019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4,323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6840" y="233172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toolchain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6840" y="238658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assembler vs 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" y="2752344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6208" y="2871215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" y="330098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assembly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" y="335584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46 + 9 + 5 + 7 + 1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0536" y="2752344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6840" y="2871215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6840" y="330098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build configurations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6840" y="335584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forwarding x predictor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" y="3794760"/>
            <a:ext cx="5394960" cy="214884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496" y="3931920"/>
            <a:ext cx="5065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FIVE LARGEST SUITES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" y="42245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7264" y="422452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5944" y="4224528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What it proves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2784" y="4471416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784" y="453542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tb_branch_unit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7264" y="453542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16,072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3104" y="453542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all six conditions, signed and unsigned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773168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828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tb_alu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47264" y="4828032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5,072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3104" y="482803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11 operations, every shift amount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2784" y="5065776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2784" y="51206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tb_bht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47264" y="5120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2,600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3104" y="51206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saturation, aliasing, same-cycle access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5358384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2784" y="541324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tb_imm_gen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47264" y="541324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1,865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3104" y="54132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all six immediate formats and their traps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2784" y="5650992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92784" y="570585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47264" y="57058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667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3104" y="570585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full truth table, 120 illegal encodings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5943600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This suite is </a:t>
            </a:r>
            <a:r>
              <a:rPr sz="1300" b="0">
                <a:solidFill>
                  <a:srgbClr val="2F6FA8"/>
                </a:solidFill>
                <a:latin typeface="Arial"/>
              </a:rPr>
              <a:t>the acceptance criterion from slide 2</a:t>
            </a:r>
            <a:r>
              <a:rPr sz="1300" b="0">
                <a:solidFill>
                  <a:srgbClr val="2A2419"/>
                </a:solidFill>
                <a:latin typeface="Arial"/>
              </a:rPr>
              <a:t>, already running. Golden values come from the reference model, never from a person, so a test cannot agree with the RTL by accident.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AB61EF2-AF7D-8E7A-8477-2A05A1E6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38" y="728777"/>
            <a:ext cx="3225364" cy="250095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04E78F1-0755-4C33-258B-5032E4EC1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88" y="3222731"/>
            <a:ext cx="4526886" cy="151386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DC81C44-7678-57AD-FC8E-90B49F93D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032" y="4745832"/>
            <a:ext cx="4507992" cy="11661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18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same three programs finish in 6,799 cycles instead of 9,003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95704" y="4617720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904" y="452628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95704" y="3981297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904" y="3889857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0.6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95704" y="3344875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904" y="3253435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1.2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95704" y="2708452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904" y="2617012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1.8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95704" y="2072030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" y="198059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2.4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95704" y="3557015"/>
            <a:ext cx="4572000" cy="0"/>
          </a:xfrm>
          <a:prstGeom prst="line">
            <a:avLst/>
          </a:prstGeom>
          <a:ln w="12700">
            <a:solidFill>
              <a:srgbClr val="8F86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96104" y="3374135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ideal CPI = 1.0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8312" y="3166676"/>
            <a:ext cx="502920" cy="145104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64384" y="2217346"/>
            <a:ext cx="502920" cy="2400373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42592" y="296550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8664" y="201617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2.263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687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fib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687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1.65x faster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1352" y="3158191"/>
            <a:ext cx="502920" cy="1459528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27424" y="2598139"/>
            <a:ext cx="502920" cy="2019580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05632" y="2957023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1704" y="2396971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1.904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991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bsort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991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1.38x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4392" y="3136977"/>
            <a:ext cx="502920" cy="1480742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90464" y="2807098"/>
            <a:ext cx="502920" cy="1810621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8672" y="2935809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4744" y="260593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1.707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295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bloop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295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1.22x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95704" y="4617720"/>
            <a:ext cx="4572000" cy="0"/>
          </a:xfrm>
          <a:prstGeom prst="line">
            <a:avLst/>
          </a:prstGeom>
          <a:ln w="12700">
            <a:solidFill>
              <a:srgbClr val="8F8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570024" y="5184648"/>
            <a:ext cx="128016" cy="12801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52904" y="5166359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forwarding 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15944" y="5184648"/>
            <a:ext cx="128016" cy="128016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98824" y="5166359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forwarding off, stall instead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904" y="17830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40">
                <a:solidFill>
                  <a:srgbClr val="8F8674"/>
                </a:solidFill>
                <a:latin typeface="Consolas"/>
              </a:rPr>
              <a:t>CYCLES PER INSTRUCTION — FORWARDING ON vs 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0624" y="17830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40">
                <a:solidFill>
                  <a:srgbClr val="8F8674"/>
                </a:solidFill>
                <a:latin typeface="Consolas"/>
              </a:rPr>
              <a:t>CHANGE IN CYCLE COUNT WITH THE PREDICTOR 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39504" y="2057400"/>
            <a:ext cx="0" cy="2057400"/>
          </a:xfrm>
          <a:prstGeom prst="line">
            <a:avLst/>
          </a:prstGeom>
          <a:ln w="15875">
            <a:solidFill>
              <a:srgbClr val="8F8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6518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0 %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0506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3074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-10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2228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4796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-5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45672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8240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+5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07394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79962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+10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9566" y="2157984"/>
            <a:ext cx="1789938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35166" y="221284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-14.5 %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49232" y="21579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bpred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9232" y="233172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95.5 % accurate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53197" y="2633472"/>
            <a:ext cx="1086307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38797" y="26883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-8.8 %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9232" y="263347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fib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49232" y="28072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93.4 % accurate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39504" y="3108960"/>
            <a:ext cx="61722" cy="329184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92666" y="316382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+0.5 %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61346" y="31089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bsort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61346" y="3282696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75.3 % accurate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39504" y="3584448"/>
            <a:ext cx="1234440" cy="329184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65384" y="3639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+10.0 %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9232" y="358444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FFFFFF"/>
                </a:solidFill>
                <a:latin typeface="Consolas"/>
              </a:rPr>
              <a:t>bloop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49232" y="37581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FFFFFF"/>
                </a:solidFill>
                <a:latin typeface="Consolas"/>
              </a:rPr>
              <a:t>49.9 % — adversarial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70624" y="4224528"/>
            <a:ext cx="128016" cy="12801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53504" y="42062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cycles saved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25104" y="4224528"/>
            <a:ext cx="128016" cy="128016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07984" y="42062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cycles cost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70624" y="4617720"/>
            <a:ext cx="5212080" cy="13258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35216" y="4754880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READING BOTH CHARTS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53504" y="49926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A2419"/>
                </a:solidFill>
                <a:latin typeface="Arial"/>
              </a:rPr>
              <a:t>Forwarding helps most where dependencies are tight. </a:t>
            </a:r>
            <a:r>
              <a:rPr sz="850" b="0">
                <a:solidFill>
                  <a:srgbClr val="655C4C"/>
                </a:solidFill>
                <a:latin typeface="Arial"/>
              </a:rPr>
              <a:t>fib gains 1.65x; bloop's load-use stall count is zero even with forwarding on, so there was nothing to save.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850" b="1">
                <a:solidFill>
                  <a:srgbClr val="2A2419"/>
                </a:solidFill>
                <a:latin typeface="Arial"/>
              </a:rPr>
              <a:t>The predictor can only win on taken branches. </a:t>
            </a:r>
            <a:r>
              <a:rPr sz="850" b="0">
                <a:solidFill>
                  <a:srgbClr val="655C4C"/>
                </a:solidFill>
                <a:latin typeface="Arial"/>
              </a:rPr>
              <a:t>bloop was written to defeat a 2-bit counter, and the 400-cycle loss matches the arithmetic exactly.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Slide 2 promised performance measured </a:t>
            </a:r>
            <a:r>
              <a:rPr sz="1300" b="0">
                <a:solidFill>
                  <a:srgbClr val="2F6FA8"/>
                </a:solidFill>
                <a:latin typeface="Arial"/>
              </a:rPr>
              <a:t>against a baseline</a:t>
            </a:r>
            <a:r>
              <a:rPr sz="1300" b="0">
                <a:solidFill>
                  <a:srgbClr val="2A2419"/>
                </a:solidFill>
                <a:latin typeface="Arial"/>
              </a:rPr>
              <a:t> rather than quoted in isolation. This is that measurement, for both bonus features.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19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SIMULATION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hazard logic, seen in the waveform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9344" y="1783080"/>
            <a:ext cx="4023360" cy="22860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3936" y="1920240"/>
            <a:ext cx="3694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THE AUDIENCE SHOULD 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2224" y="224027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STALL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400" y="2212848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for exactly one cycle, while ex_valid drops — the pipeline bubble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42224" y="2596896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42224" y="267919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FWD_A / FWD_B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0400" y="2651760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switching to 01 the cycle after, the MEM/WB bypass delivering the 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42224" y="3035808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42224" y="31181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FLUSH_IF /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0400" y="309067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shown alongside, redirecting the front of the pipe on a taken branch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42224" y="3474720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2224" y="355701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TRACE_VALID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0400" y="3529584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dropping for the squashed slot inside the bubble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9344" y="4206240"/>
            <a:ext cx="4023360" cy="17373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3936" y="4343400"/>
            <a:ext cx="3694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WHY THIS SLIDE EXISTS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2224" y="461772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The course task asks us to </a:t>
            </a:r>
            <a:r>
              <a:rPr sz="950" b="1">
                <a:solidFill>
                  <a:srgbClr val="2A2419"/>
                </a:solidFill>
                <a:latin typeface="Arial"/>
              </a:rPr>
              <a:t>use the simulation tools to show the function of the CPU</a:t>
            </a:r>
            <a:r>
              <a:rPr sz="950" b="0">
                <a:solidFill>
                  <a:srgbClr val="655C4C"/>
                </a:solidFill>
                <a:latin typeface="Arial"/>
              </a:rPr>
              <a:t>. The PASS lines prove it to a machine. This is the picture that proves it to a person.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Correctness is decided by the self-checking testbenches, never by reading a waveform. The waveform is </a:t>
            </a:r>
            <a:r>
              <a:rPr sz="1300" b="0">
                <a:solidFill>
                  <a:srgbClr val="2F6FA8"/>
                </a:solidFill>
                <a:latin typeface="Arial"/>
              </a:rPr>
              <a:t>evidence for the audience</a:t>
            </a:r>
            <a:r>
              <a:rPr sz="1300" b="0">
                <a:solidFill>
                  <a:srgbClr val="2A2419"/>
                </a:solidFill>
                <a:latin typeface="Arial"/>
              </a:rPr>
              <a:t>, not the test.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6819F9E-36F6-3EFA-BCB8-C692F54D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" y="2313431"/>
            <a:ext cx="6794331" cy="31761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20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WHERE WE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are committing to, and why we 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46 encodings execute correctly on a 5-stage pipeline with full forwarding, a load-use interlock and flush-based control recovery.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Checked against an independent reference model, byte for byte, at every build configuration.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560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9152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440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Forwarding is worth 1.32x overall and 1.65x on the tightest dependent loop. The predictor reaches 95.5 % where branches are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440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Both measured by counters in the RTL, both with the feature switched off as the baseline.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9216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3808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BETWEEN HERE AND SEP 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2096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Two timing improvements, the final regression on the frozen RTL, the final synthesis run, and the demo package.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2096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None of it is new design work. It is finishing measurement on a machine that already runs.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5212080"/>
            <a:ext cx="2143353" cy="457200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17266" y="5212080"/>
            <a:ext cx="2143353" cy="457200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4628" y="5212080"/>
            <a:ext cx="2143353" cy="457200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1989" y="5212080"/>
            <a:ext cx="2143353" cy="457200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9351" y="5212080"/>
            <a:ext cx="2143353" cy="457200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criterion on slide 2 is already met once. What remains is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 on a machine that runs</a:t>
            </a:r>
            <a:r>
              <a:rPr sz="1300" b="0">
                <a:solidFill>
                  <a:srgbClr val="2A2419"/>
                </a:solidFill>
                <a:latin typeface="Arial"/>
              </a:rPr>
              <a:t>, not design.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Design decisions, and what each one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53492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7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8080" y="221284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RV32I user subset plus simplified machine-mode CSRs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2523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26060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8080" y="257860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5 stages, in-order issue, in-order completion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" y="288950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2784" y="297179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8080" y="294436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Harvard, 4 KB + 4 KB, single-cycle synchronous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325526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333755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8080" y="3310127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Synchronous, active high, PC to 0x00000000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3464" y="1783080"/>
            <a:ext cx="53492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98056" y="192024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HAZARDS AND CONTROL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6344" y="224027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1640" y="221284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Full EX/MEM and MEM/WB forwarding; EX/MEM has priority; x0 never forwarded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16344" y="2523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16344" y="26060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LOAD-USE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1640" y="257860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1-cycle interlock, then served by the MEM/WB bypass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16344" y="288950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16344" y="297179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JAL / BRANCH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1640" y="294436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ID, 1 bubble / EX, 2 bubbles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16344" y="325526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16344" y="333755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1640" y="3310127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FORWARDING disables the bypass network for the CPI comparison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" y="3931920"/>
            <a:ext cx="53492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4496" y="406908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BONUS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" y="43891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BRANCH PRED.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9520" y="4361688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Implemented, 64-entry 2-bit BHT with accuracy counters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784" y="4809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92784" y="48920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INTERRUPTS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9520" y="4864607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Implemented, mstatus / mie / mtvec / mepc / mcause, CSR instructions, mret, external irq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531266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2784" y="539495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I-CACHE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9520" y="5367527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Cut on purpose. Behind a single-cycle memory a hit and a miss cost the same, and the suite fits in 2 KB, so the hit rate would read ~99 % and prove nothing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464" y="3931920"/>
            <a:ext cx="53492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98056" y="406908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TOOLCHAIN AND TARGET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6344" y="43891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HDL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3080" y="4361688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Plain synthesizable Verilog-2001, no IP catalog, no block design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16344" y="4690872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16344" y="47731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SIMULATOR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3080" y="4745736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Vivado 2026.1 xsim, batch flow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16344" y="5074920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16344" y="515721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REFERENCE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3080" y="5129783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Written in Python. Mars4_5 is MIPS-only and cannot execute RISC-V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16344" y="5458968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16344" y="554126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PART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3080" y="5513831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xc7a35tcpg236-1, simulation plus synthesis report, no board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Cutting the cache was a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 decision</a:t>
            </a:r>
            <a:r>
              <a:rPr sz="1300" b="0">
                <a:solidFill>
                  <a:srgbClr val="2A2419"/>
                </a:solidFill>
                <a:latin typeface="Arial"/>
              </a:rPr>
              <a:t>, not a schedule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19 RTL modules, and the two tools we wrote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60350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rtl/ — 19 MODULES, PLAIN VERILOG-2001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PIPELINE REGISTERS —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784" y="2478024"/>
            <a:ext cx="777240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if_id.v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3176" y="2478024"/>
            <a:ext cx="777240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id_ex.v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3568" y="2478024"/>
            <a:ext cx="85953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ex_mem.v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6256" y="2478024"/>
            <a:ext cx="85953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mem_wb.v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" y="2953512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DATAPATH —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784" y="3191256"/>
            <a:ext cx="53035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pc.v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6288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regfile.v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1272" y="3191256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alu.v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7072" y="3191256"/>
            <a:ext cx="102412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alu_ctrl.v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4352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imm_gen.v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09336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control.v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784" y="3483864"/>
            <a:ext cx="127101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branch_unit.v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" y="3959352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HAZARD LOGIC —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784" y="4197096"/>
            <a:ext cx="135331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9A6410"/>
                </a:solidFill>
                <a:latin typeface="Consolas"/>
              </a:rPr>
              <a:t>forward_unit.v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9248" y="4197096"/>
            <a:ext cx="127101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9A6410"/>
                </a:solidFill>
                <a:latin typeface="Consolas"/>
              </a:rPr>
              <a:t>hazard_unit.v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" y="4672583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BONUS AND INSTRUMENTATION —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784" y="4910327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bht.v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78584" y="4910327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csr.v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64384" y="4910327"/>
            <a:ext cx="143560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perf_counters.v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" y="5385815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MEMORY AND TOP —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784" y="5623559"/>
            <a:ext cx="694944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imem.v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60880" y="5623559"/>
            <a:ext cx="694944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dmem.v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28976" y="5623559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cpu_top.v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9264" y="1783080"/>
            <a:ext cx="4663440" cy="2651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83856" y="1920240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tools/ — THE TOOLCHAIN 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2144" y="219456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The course names Mars4_5 as the simulator. Mars executes MIPS, not RISC-V, so there was no reference model to check the RTL against. We wrote one.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2144" y="2880360"/>
            <a:ext cx="1554480" cy="329184"/>
          </a:xfrm>
          <a:prstGeom prst="rect">
            <a:avLst/>
          </a:prstGeom>
          <a:solidFill>
            <a:srgbClr val="DDD3BE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program.s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79384" y="3209544"/>
            <a:ext cx="0" cy="146304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102144" y="3355848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F6FA8"/>
                </a:solidFill>
                <a:latin typeface="Consolas"/>
              </a:rPr>
              <a:t>asm.py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79384" y="3685032"/>
            <a:ext cx="0" cy="146303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02144" y="3831335"/>
            <a:ext cx="1554480" cy="329184"/>
          </a:xfrm>
          <a:prstGeom prst="rect">
            <a:avLst/>
          </a:prstGeom>
          <a:solidFill>
            <a:srgbClr val="DDD3BE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program.hex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30944" y="2880360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9A6410"/>
                </a:solidFill>
                <a:latin typeface="Consolas"/>
              </a:rPr>
              <a:t>iss.py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30944" y="3831335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457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cpu_top · xsim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56624" y="3995927"/>
            <a:ext cx="274320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656624" y="3044952"/>
            <a:ext cx="274320" cy="950975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668304" y="3355848"/>
            <a:ext cx="822960" cy="329184"/>
          </a:xfrm>
          <a:prstGeom prst="rect">
            <a:avLst/>
          </a:prstGeom>
          <a:solidFill>
            <a:srgbClr val="DCE6F0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2A2419"/>
                </a:solidFill>
                <a:latin typeface="Consolas"/>
              </a:rPr>
              <a:t>diff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485424" y="3044952"/>
            <a:ext cx="182880" cy="384048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485424" y="3630168"/>
            <a:ext cx="182880" cy="36576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919264" y="4572000"/>
            <a:ext cx="2258568" cy="822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5568" y="46908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861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5568" y="5120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assembler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5568" y="513892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two-pass, 6 formats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4136" y="4572000"/>
            <a:ext cx="2258568" cy="822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70440" y="46908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589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70440" y="5120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ISS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70440" y="513892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emits the commit trace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Building our own reference model forced every ISA question to be </a:t>
            </a:r>
            <a:r>
              <a:rPr sz="1300" b="0">
                <a:solidFill>
                  <a:srgbClr val="2F6FA8"/>
                </a:solidFill>
                <a:latin typeface="Arial"/>
              </a:rPr>
              <a:t>answered once, explicitly</a:t>
            </a:r>
            <a:r>
              <a:rPr sz="1300" b="0">
                <a:solidFill>
                  <a:srgbClr val="2A2419"/>
                </a:solidFill>
                <a:latin typeface="Arial"/>
              </a:rPr>
              <a:t>, before the RTL was written.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How we know the tests would actually fail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64922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6163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MUTATION CHECKS — A BROKEN MODULE MUST PRODUCE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Bug injected on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64" y="224028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Caught by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2487168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255117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SRA as a logical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6064" y="255117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tb_alu, negative-operand vectors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" y="2788920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2784" y="28529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WB to ID bypass removed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6064" y="28529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tb_regfile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3090672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31546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B-format immediate bit flipped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6064" y="31546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tb_imm_gen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" y="3392424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2784" y="34564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alu_ctrl reads inst[30] for addi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6064" y="34564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tb_control, the addi / sub trap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" y="3694176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784" y="37581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Forwarding priority swapped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64" y="375818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asm/hazard/fwd_ex_ex.s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2784" y="3995928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2784" y="405993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x0 guard removed from forwarding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6064" y="40599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asm/hazard/x0_hazard.s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2784" y="4297680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2784" y="43616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Load-use interlock disabled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6064" y="4361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asm/hazard/load_use.s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599432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6634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lb sign extension removed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6064" y="46634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tb_dmem and asm/insn/lb.s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2784" y="4901184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784" y="49651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BHT trained with the inverted outcome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64" y="49651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nothing, and that is correct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92784" y="5202936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376464" y="1783080"/>
            <a:ext cx="42062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1056" y="1920240"/>
            <a:ext cx="3877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LAST ROW IS THE INTERESTING 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9344" y="2240280"/>
            <a:ext cx="38404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55C4C"/>
                </a:solidFill>
                <a:latin typeface="Arial"/>
              </a:rPr>
              <a:t>Training the predictor with the </a:t>
            </a:r>
            <a:r>
              <a:rPr sz="1000" b="1">
                <a:solidFill>
                  <a:srgbClr val="655C4C"/>
                </a:solidFill>
                <a:latin typeface="Arial"/>
              </a:rPr>
              <a:t>inverted</a:t>
            </a:r>
            <a:r>
              <a:rPr sz="1000" b="0">
                <a:solidFill>
                  <a:srgbClr val="655C4C"/>
                </a:solidFill>
                <a:latin typeface="Arial"/>
              </a:rPr>
              <a:t> outcome collapses accuracy. fib falls from 93.4 % to 3.3 %, and bloop costs another 438 cycles.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000" b="0">
                <a:solidFill>
                  <a:srgbClr val="655C4C"/>
                </a:solidFill>
                <a:latin typeface="Arial"/>
              </a:rPr>
              <a:t>Yet every program still passes its byte-exact trace diff.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000" b="1">
                <a:solidFill>
                  <a:srgbClr val="2A2419"/>
                </a:solidFill>
                <a:latin typeface="Arial"/>
              </a:rPr>
              <a:t>That is the right answer. </a:t>
            </a:r>
            <a:r>
              <a:rPr sz="1000" b="0">
                <a:solidFill>
                  <a:srgbClr val="655C4C"/>
                </a:solidFill>
                <a:latin typeface="Arial"/>
              </a:rPr>
              <a:t>The predictor only changes </a:t>
            </a:r>
            <a:r>
              <a:rPr sz="1000" b="1">
                <a:solidFill>
                  <a:srgbClr val="2F6FA8"/>
                </a:solidFill>
                <a:latin typeface="Arial"/>
              </a:rPr>
              <a:t>when</a:t>
            </a:r>
            <a:r>
              <a:rPr sz="1000" b="0">
                <a:solidFill>
                  <a:srgbClr val="655C4C"/>
                </a:solidFill>
                <a:latin typeface="Arial"/>
              </a:rPr>
              <a:t> instructions are fetched, never what they compute. Correctness rests entirely on the EX-stage resolution and flush, and the trace diff should be blind to a misprediction rate.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testbench is not trusted until it has been </a:t>
            </a:r>
            <a:r>
              <a:rPr sz="1300" b="0">
                <a:solidFill>
                  <a:srgbClr val="2F6FA8"/>
                </a:solidFill>
                <a:latin typeface="Arial"/>
              </a:rPr>
              <a:t>shown to fail</a:t>
            </a:r>
            <a:r>
              <a:rPr sz="1300" b="0">
                <a:solidFill>
                  <a:srgbClr val="2A2419"/>
                </a:solidFill>
                <a:latin typeface="Arial"/>
              </a:rPr>
              <a:t> against a deliberately broken copy of the module it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4899</Words>
  <Application>Microsoft Office PowerPoint</Application>
  <PresentationFormat>Widescreen</PresentationFormat>
  <Paragraphs>979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Kantaphon Kitsanakarakat</cp:lastModifiedBy>
  <cp:revision>2</cp:revision>
  <dcterms:created xsi:type="dcterms:W3CDTF">2013-01-27T09:14:16Z</dcterms:created>
  <dcterms:modified xsi:type="dcterms:W3CDTF">2026-09-14T10:27:16Z</dcterms:modified>
  <cp:category/>
</cp:coreProperties>
</file>