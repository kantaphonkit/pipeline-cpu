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F97D6"/>
                </a:solidFill>
                <a:latin typeface="IBM Plex Mono"/>
              </a:rPr>
              <a:t>PIPELINE CPU PROJECT · FINAL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EDE4D2"/>
                </a:solidFill>
                <a:latin typeface="Archivo"/>
              </a:rPr>
              <a:t>A 5-stage RISC-V RV32I processor in Verilog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AFA48D"/>
                </a:solidFill>
                <a:latin typeface="IBM Plex Sans"/>
              </a:rPr>
              <a:t>46 encodings, full forwarding, a load-use interlock, branch prediction, and machine-mode interrupts. Verified byte-for-byte against a golden reference model we wrote ourselves, and synthesized for an Artix-7 at 74 MHz.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60520"/>
            <a:ext cx="1404518" cy="777240"/>
          </a:xfrm>
          <a:prstGeom prst="rect">
            <a:avLst/>
          </a:prstGeom>
          <a:solidFill>
            <a:srgbClr val="25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366259"/>
            <a:ext cx="14045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EDE4D2"/>
                </a:solidFill>
                <a:latin typeface="IBM Plex Mono"/>
              </a:rPr>
              <a:t>IF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6310" y="4160520"/>
            <a:ext cx="1404518" cy="777240"/>
          </a:xfrm>
          <a:prstGeom prst="rect">
            <a:avLst/>
          </a:prstGeom>
          <a:solidFill>
            <a:srgbClr val="33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6310" y="4366259"/>
            <a:ext cx="14045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EDE4D2"/>
                </a:solidFill>
                <a:latin typeface="IBM Plex Mono"/>
              </a:rPr>
              <a:t>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3980" y="4160520"/>
            <a:ext cx="1404518" cy="777240"/>
          </a:xfrm>
          <a:prstGeom prst="rect">
            <a:avLst/>
          </a:prstGeom>
          <a:solidFill>
            <a:srgbClr val="44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3980" y="4366259"/>
            <a:ext cx="14045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EDE4D2"/>
                </a:solidFill>
                <a:latin typeface="IBM Plex Mono"/>
              </a:rPr>
              <a:t>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1651" y="4160520"/>
            <a:ext cx="1404518" cy="777240"/>
          </a:xfrm>
          <a:prstGeom prst="rect">
            <a:avLst/>
          </a:prstGeom>
          <a:solidFill>
            <a:srgbClr val="5F8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1651" y="4366259"/>
            <a:ext cx="14045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91510"/>
                </a:solidFill>
                <a:latin typeface="IBM Plex Mono"/>
              </a:rPr>
              <a:t>MEM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9321" y="4160520"/>
            <a:ext cx="1404518" cy="777240"/>
          </a:xfrm>
          <a:prstGeom prst="rect">
            <a:avLst/>
          </a:prstGeom>
          <a:solidFill>
            <a:srgbClr val="88B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9321" y="4366259"/>
            <a:ext cx="14045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91510"/>
                </a:solidFill>
                <a:latin typeface="IBM Plex Mono"/>
              </a:rPr>
              <a:t>WB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212080"/>
            <a:ext cx="201168" cy="201168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513892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FA48D"/>
                </a:solidFill>
                <a:latin typeface="IBM Plex Mono"/>
              </a:rPr>
              <a:t>bypass network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5212080"/>
            <a:ext cx="201168" cy="201168"/>
          </a:xfrm>
          <a:prstGeom prst="rect">
            <a:avLst/>
          </a:prstGeom>
          <a:solidFill>
            <a:srgbClr val="938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3008" y="513892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FA48D"/>
                </a:solidFill>
                <a:latin typeface="IBM Plex Mono"/>
              </a:rPr>
              <a:t>interlock / stall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5212080"/>
            <a:ext cx="201168" cy="201168"/>
          </a:xfrm>
          <a:prstGeom prst="rect">
            <a:avLst/>
          </a:prstGeom>
          <a:solidFill>
            <a:srgbClr val="D2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513892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FA48D"/>
                </a:solidFill>
                <a:latin typeface="IBM Plex Mono"/>
              </a:rPr>
              <a:t>flush / killed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5212080"/>
            <a:ext cx="201168" cy="201168"/>
          </a:xfrm>
          <a:prstGeom prst="rect">
            <a:avLst/>
          </a:prstGeom>
          <a:solidFill>
            <a:srgbClr val="6FA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96528" y="513892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FA48D"/>
                </a:solidFill>
                <a:latin typeface="IBM Plex Mono"/>
              </a:rPr>
              <a:t>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235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D7462"/>
                </a:solidFill>
                <a:latin typeface="IBM Plex Mono"/>
              </a:rPr>
              <a:t>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6235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DE4D2"/>
                </a:solidFill>
                <a:latin typeface="IBM Plex Sans"/>
              </a:rPr>
              <a:t>杨辉宗 1820232064 · microarchitecture, hazard scheme, design document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344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D7462"/>
                </a:solidFill>
                <a:latin typeface="IBM Plex Mono"/>
              </a:rPr>
              <a:t>CODING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93445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DE4D2"/>
                </a:solidFill>
                <a:latin typeface="IBM Plex Sans"/>
              </a:rPr>
              <a:t>吴宏庆 1820232044 · 19 RTL modules, assembler, reference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453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D7462"/>
                </a:solidFill>
                <a:latin typeface="IBM Plex Mono"/>
              </a:rPr>
              <a:t>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62453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DE4D2"/>
                </a:solidFill>
                <a:latin typeface="IBM Plex Sans"/>
              </a:rPr>
              <a:t>王伟成 1820232061 · testbenches, trace diffing, performance measurement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F97D6"/>
                </a:solidFill>
                <a:latin typeface="IBM Plex Mono"/>
              </a:rPr>
              <a:t>THE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DE4D2"/>
                </a:solidFill>
                <a:latin typeface="Archivo"/>
              </a:rPr>
              <a:t>One 5-stage pipeline, 46 encodings, two bonuses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258214" cy="640080"/>
          </a:xfrm>
          <a:prstGeom prst="rect">
            <a:avLst/>
          </a:prstGeom>
          <a:solidFill>
            <a:srgbClr val="25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39"/>
            <a:ext cx="12582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EDE4D2"/>
                </a:solidFill>
                <a:latin typeface="IBM Plex Mono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0006" y="1554480"/>
            <a:ext cx="1258214" cy="640080"/>
          </a:xfrm>
          <a:prstGeom prst="rect">
            <a:avLst/>
          </a:prstGeom>
          <a:solidFill>
            <a:srgbClr val="33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80006" y="1691639"/>
            <a:ext cx="12582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EDE4D2"/>
                </a:solidFill>
                <a:latin typeface="IBM Plex Mono"/>
              </a:rP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1372" y="1554480"/>
            <a:ext cx="1258214" cy="640080"/>
          </a:xfrm>
          <a:prstGeom prst="rect">
            <a:avLst/>
          </a:prstGeom>
          <a:solidFill>
            <a:srgbClr val="44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11372" y="1691639"/>
            <a:ext cx="12582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EDE4D2"/>
                </a:solidFill>
                <a:latin typeface="IBM Plex Mono"/>
              </a:rPr>
              <a:t>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42739" y="1554480"/>
            <a:ext cx="1258214" cy="640080"/>
          </a:xfrm>
          <a:prstGeom prst="rect">
            <a:avLst/>
          </a:prstGeom>
          <a:solidFill>
            <a:srgbClr val="5F8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2739" y="1691639"/>
            <a:ext cx="12582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91510"/>
                </a:solidFill>
                <a:latin typeface="IBM Plex Mono"/>
              </a:rPr>
              <a:t>MEM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74105" y="1554480"/>
            <a:ext cx="1258214" cy="640080"/>
          </a:xfrm>
          <a:prstGeom prst="rect">
            <a:avLst/>
          </a:prstGeom>
          <a:solidFill>
            <a:srgbClr val="88B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74105" y="1691639"/>
            <a:ext cx="12582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91510"/>
                </a:solidFill>
                <a:latin typeface="IBM Plex Mono"/>
              </a:rPr>
              <a:t>WB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23160"/>
            <a:ext cx="6583680" cy="3749039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0604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D7462"/>
                </a:solidFill>
                <a:latin typeface="IBM Plex Mono"/>
              </a:rPr>
              <a:t>STAGE RESPONSIBILITIES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1752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FA48D"/>
                </a:solidFill>
                <a:latin typeface="IBM Plex Mono"/>
              </a:rPr>
              <a:t>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01752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Sans"/>
              </a:rPr>
              <a:t>Fetch from IMEM; BHT lookup indexed by the fetch 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84448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FA48D"/>
                </a:solidFill>
                <a:latin typeface="IBM Plex Mono"/>
              </a:rPr>
              <a:t>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584448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Sans"/>
              </a:rPr>
              <a:t>Decode, immediate generation, register read; jal resolved here (1 bubble)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513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FA48D"/>
                </a:solidFill>
                <a:latin typeface="IBM Plex Mono"/>
              </a:rPr>
              <a:t>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51376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Sans"/>
              </a:rPr>
              <a:t>ALU, branch compare + target, forwarding muxes; branches + jalr resolve here (2 bubbles)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18304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FA48D"/>
                </a:solidFill>
                <a:latin typeface="IBM Plex Mono"/>
              </a:rPr>
              <a:t>MEM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718304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Sans"/>
              </a:rPr>
              <a:t>Data memory load/store; the BRAM word is registered on the MEM 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8523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FA48D"/>
                </a:solidFill>
                <a:latin typeface="IBM Plex Mono"/>
              </a:rPr>
              <a:t>WB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28523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Sans"/>
              </a:rPr>
              <a:t>Byte-lane select + extension, then register write-back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554480"/>
            <a:ext cx="2148840" cy="210312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173736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4F97D6"/>
                </a:solidFill>
                <a:latin typeface="Archivo"/>
              </a:rPr>
              <a:t>46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2606039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FA48D"/>
                </a:solidFill>
                <a:latin typeface="IBM Plex Sans"/>
              </a:rPr>
              <a:t>encodings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97180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D7462"/>
                </a:solidFill>
                <a:latin typeface="IBM Plex Mono"/>
              </a:rPr>
              <a:t>37 core + 9 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55480" y="1554480"/>
            <a:ext cx="2148840" cy="210312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173736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B8862B"/>
                </a:solidFill>
                <a:latin typeface="Archivo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606039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FA48D"/>
                </a:solidFill>
                <a:latin typeface="IBM Plex Sans"/>
              </a:rPr>
              <a:t>bonus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97180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D7462"/>
                </a:solidFill>
                <a:latin typeface="IBM Plex Mono"/>
              </a:rPr>
              <a:t>BHT + interrupts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3840480"/>
            <a:ext cx="4389120" cy="233172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800" y="402336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D7462"/>
                </a:solidFill>
                <a:latin typeface="IBM Plex Mono"/>
              </a:rPr>
              <a:t>INSTRUCTION 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43434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FA48D"/>
                </a:solidFill>
                <a:latin typeface="IBM Plex Mono"/>
              </a:rPr>
              <a:t>R-TYPE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3434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DE4D2"/>
                </a:solidFill>
                <a:latin typeface="IBM Plex Sans"/>
              </a:rPr>
              <a:t>add sub sll slt sltu xor srl sra or 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46360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FA48D"/>
                </a:solidFill>
                <a:latin typeface="IBM Plex Mono"/>
              </a:rPr>
              <a:t>I-ARITH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636008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DE4D2"/>
                </a:solidFill>
                <a:latin typeface="IBM Plex Sans"/>
              </a:rPr>
              <a:t>addi slti sltiu xori ori andi slli srli srai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49286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FA48D"/>
                </a:solidFill>
                <a:latin typeface="IBM Plex Mono"/>
              </a:rPr>
              <a:t>LOADS/STORES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4928616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DE4D2"/>
                </a:solidFill>
                <a:latin typeface="IBM Plex Sans"/>
              </a:rPr>
              <a:t>lb lh lw lbu lhu · sb sh sw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522122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FA48D"/>
                </a:solidFill>
                <a:latin typeface="IBM Plex Mono"/>
              </a:rPr>
              <a:t>BRANCHES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5221224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DE4D2"/>
                </a:solidFill>
                <a:latin typeface="IBM Plex Sans"/>
              </a:rPr>
              <a:t>beq bne blt bge bltu bgeu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55138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FA48D"/>
                </a:solidFill>
                <a:latin typeface="IBM Plex Mono"/>
              </a:rPr>
              <a:t>U + JUMPS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551383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DE4D2"/>
                </a:solidFill>
                <a:latin typeface="IBM Plex Sans"/>
              </a:rPr>
              <a:t>lui auipc jal jalr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58064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FA48D"/>
                </a:solidFill>
                <a:latin typeface="IBM Plex Mono"/>
              </a:rPr>
              <a:t>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8064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DE4D2"/>
                </a:solidFill>
                <a:latin typeface="IBM Plex Sans"/>
              </a:rPr>
              <a:t>ecall ebreak csr* mret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6263640"/>
            <a:ext cx="54864" cy="502920"/>
          </a:xfrm>
          <a:prstGeom prst="rect">
            <a:avLst/>
          </a:prstGeom>
          <a:solidFill>
            <a:srgbClr val="4F9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DE4D2"/>
                </a:solidFill>
                <a:latin typeface="IBM Plex Sans"/>
              </a:rPr>
              <a:t>The shallowest design that still exposes all three hazard classes — which is the point of the exercise.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F97D6"/>
                </a:solidFill>
                <a:latin typeface="IBM Plex Mono"/>
              </a:rPr>
              <a:t>HAZARDS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DE4D2"/>
                </a:solidFill>
                <a:latin typeface="Archivo"/>
              </a:rPr>
              <a:t>Three mechanisms, one rule 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520440" cy="384048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20440" cy="4572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2880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862B"/>
                </a:solidFill>
                <a:latin typeface="IBM Plex Mono"/>
              </a:rPr>
              <a:t>FORWARD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29718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EDE4D2"/>
                </a:solidFill>
                <a:latin typeface="IBM Plex Sans"/>
              </a:rPr>
              <a:t>EX/MEM and MEM/WB results route straight back to the ALU inputs — no stall for a data hazard.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61772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D7462"/>
                </a:solidFill>
                <a:latin typeface="IBM Plex Mono"/>
              </a:rPr>
              <a:t>EX/MEM wins over MEM/WB · x0 never forwarded · store data forwarded too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1645920"/>
            <a:ext cx="3520440" cy="384048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645920"/>
            <a:ext cx="3520440" cy="45720"/>
          </a:xfrm>
          <a:prstGeom prst="rect">
            <a:avLst/>
          </a:prstGeom>
          <a:solidFill>
            <a:srgbClr val="938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82880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385D2"/>
                </a:solidFill>
                <a:latin typeface="IBM Plex Mono"/>
              </a:rPr>
              <a:t>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286000"/>
            <a:ext cx="29718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EDE4D2"/>
                </a:solidFill>
                <a:latin typeface="IBM Plex Sans"/>
              </a:rPr>
              <a:t>A load feeding the very next instruction is the one case forwarding cannot save.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461772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D7462"/>
                </a:solidFill>
                <a:latin typeface="IBM Plex Mono"/>
              </a:rPr>
              <a:t>load-use interlock · freeze PC + IF/ID · one bubble into ID/EX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3" y="1645920"/>
            <a:ext cx="3520440" cy="384048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645920"/>
            <a:ext cx="3520440" cy="45720"/>
          </a:xfrm>
          <a:prstGeom prst="rect">
            <a:avLst/>
          </a:prstGeom>
          <a:solidFill>
            <a:srgbClr val="D2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182880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2695C"/>
                </a:solidFill>
                <a:latin typeface="IBM Plex Mono"/>
              </a:rPr>
              <a:t>FLUSH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286000"/>
            <a:ext cx="29718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EDE4D2"/>
                </a:solidFill>
                <a:latin typeface="IBM Plex Sans"/>
              </a:rPr>
              <a:t>A taken branch or trap squashes the younger instructions already in the pipe.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461772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D7462"/>
                </a:solidFill>
                <a:latin typeface="IBM Plex Mono"/>
              </a:rPr>
              <a:t>jal = 1 bubble · branch / jalr / trap / mret = 2 bubbles · killed insns never retire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263640"/>
            <a:ext cx="54864" cy="502920"/>
          </a:xfrm>
          <a:prstGeom prst="rect">
            <a:avLst/>
          </a:prstGeom>
          <a:solidFill>
            <a:srgbClr val="4F9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DE4D2"/>
                </a:solidFill>
                <a:latin typeface="IBM Plex Sans"/>
              </a:rPr>
              <a:t>Everything above CPI 1.0 is control-flow bubbles and load-use stalls. There is no other source of delay.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F97D6"/>
                </a:solidFill>
                <a:latin typeface="IBM Plex Mon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DE4D2"/>
                </a:solidFill>
                <a:latin typeface="Archivo"/>
              </a:rPr>
              <a:t>The machine in simulation</a:t>
            </a:r>
          </a:p>
        </p:txBody>
      </p:sp>
      <p:pic>
        <p:nvPicPr>
          <p:cNvPr id="4" name="Picture 3" descr="Wav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583680" cy="30776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864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D7462"/>
                </a:solidFill>
                <a:latin typeface="IBM Plex Mono"/>
              </a:rPr>
              <a:t>pc_q · stall · flush_id · fwd_a — the three hazards,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645920"/>
            <a:ext cx="4343400" cy="384048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82880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D7462"/>
                </a:solidFill>
                <a:latin typeface="IBM Plex Mono"/>
              </a:rPr>
              <a:t>WHAT TO POINT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2402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385D2"/>
                </a:solidFill>
                <a:latin typeface="IBM Plex Mono"/>
              </a:rPr>
              <a:t>STALL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24028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DE4D2"/>
                </a:solidFill>
                <a:latin typeface="IBM Plex Sans"/>
              </a:rPr>
              <a:t>stall high for exactly one cycle; PC and IF/ID hold their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2004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8862B"/>
                </a:solidFill>
                <a:latin typeface="IBM Plex Mono"/>
              </a:rPr>
              <a:t>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20040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DE4D2"/>
                </a:solidFill>
                <a:latin typeface="IBM Plex Sans"/>
              </a:rPr>
              <a:t>fwd_a switches to the MEM/WB path the cycle after the 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160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2695C"/>
                </a:solidFill>
                <a:latin typeface="IBM Plex Mono"/>
              </a:rPr>
              <a:t>FLUSH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1605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DE4D2"/>
                </a:solidFill>
                <a:latin typeface="IBM Plex Sans"/>
              </a:rPr>
              <a:t>both flush signals assert; the trace valid never fires for a killed insn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63640"/>
            <a:ext cx="54864" cy="502920"/>
          </a:xfrm>
          <a:prstGeom prst="rect">
            <a:avLst/>
          </a:prstGeom>
          <a:solidFill>
            <a:srgbClr val="4F9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DE4D2"/>
                </a:solidFill>
                <a:latin typeface="IBM Plex Sans"/>
              </a:rPr>
              <a:t>Function is shown in simulation, not asserted — every test states its own PASS or FAIL verdict.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F97D6"/>
                </a:solidFill>
                <a:latin typeface="IBM Plex Mono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DE4D2"/>
                </a:solidFill>
                <a:latin typeface="Archivo"/>
              </a:rPr>
              <a:t>Green against an independent model, not our own expectations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6675120" cy="402336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D7462"/>
                </a:solidFill>
                <a:latin typeface="IBM Plex Mono"/>
              </a:rPr>
              <a:t>RESULTS — ALL FOUR FORWARDING × BHT CONFIGURATIONS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6400800" cy="658368"/>
          </a:xfrm>
          <a:prstGeom prst="rect">
            <a:avLst/>
          </a:prstGeom>
          <a:solidFill>
            <a:srgbClr val="24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DE4D2"/>
                </a:solidFill>
                <a:latin typeface="IBM Plex Mono"/>
              </a:rPr>
              <a:t>Per-instruction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2402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FA48D"/>
                </a:solidFill>
                <a:latin typeface="IBM Plex Sans"/>
              </a:rPr>
              <a:t>one program per encoding, golden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2402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4F97D6"/>
                </a:solidFill>
                <a:latin typeface="IBM Plex Mono"/>
              </a:rPr>
              <a:t>46 / 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986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Mono"/>
              </a:rPr>
              <a:t>Hazard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89864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FA48D"/>
                </a:solidFill>
                <a:latin typeface="IBM Plex Sans"/>
              </a:rPr>
              <a:t>forwarding, load-use, flush, CSR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89864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DE4D2"/>
                </a:solidFill>
                <a:latin typeface="IBM Plex Mono"/>
              </a:rPr>
              <a:t>9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57015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Mono"/>
              </a:rPr>
              <a:t>Program-level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557015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FA48D"/>
                </a:solidFill>
                <a:latin typeface="IBM Plex Sans"/>
              </a:rPr>
              <a:t>fib, bsort, bloop, bpred, irq — trace diff vs ISS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557015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DE4D2"/>
                </a:solidFill>
                <a:latin typeface="IBM Plex Mono"/>
              </a:rPr>
              <a:t>5 /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15383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Mono"/>
              </a:rPr>
              <a:t>Unit testbenches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215383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FA48D"/>
                </a:solidFill>
                <a:latin typeface="IBM Plex Sans"/>
              </a:rPr>
              <a:t>imm_gen, ALU, regfile, control, BHT…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215383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DE4D2"/>
                </a:solidFill>
                <a:latin typeface="IBM Plex Mono"/>
              </a:rPr>
              <a:t>11 / 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73751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Mono"/>
              </a:rPr>
              <a:t>Toolchain self-check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873751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FA48D"/>
                </a:solidFill>
                <a:latin typeface="IBM Plex Sans"/>
              </a:rPr>
              <a:t>assembler vs reference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873751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DE4D2"/>
                </a:solidFill>
                <a:latin typeface="IBM Plex Mono"/>
              </a:rPr>
              <a:t>4,323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1645920"/>
            <a:ext cx="4206240" cy="192024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1828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D7462"/>
                </a:solidFill>
                <a:latin typeface="IBM Plex Mono"/>
              </a:rPr>
              <a:t>WHY A TRACE DIFF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194560"/>
            <a:ext cx="3749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AFA48D"/>
                </a:solidFill>
                <a:latin typeface="IBM Plex Sans"/>
              </a:rPr>
              <a:t>A final-state check tells you the answer is wrong. A commit-trace diff tells you which instruction went wrong — the difference between an afternoon of debugging and a week.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3749039"/>
            <a:ext cx="4206240" cy="192024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3749039"/>
            <a:ext cx="4206240" cy="4572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393192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8862B"/>
                </a:solidFill>
                <a:latin typeface="IBM Plex Mono"/>
              </a:rPr>
              <a:t>TESTS ARE TRUSTED, NOT JUST PASSING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297680"/>
            <a:ext cx="3749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AFA48D"/>
                </a:solidFill>
                <a:latin typeface="IBM Plex Sans"/>
              </a:rPr>
              <a:t>Every expected value is generated by the reference model, and we injected deliberate bugs to confirm each testbench fails when it should.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263640"/>
            <a:ext cx="54864" cy="502920"/>
          </a:xfrm>
          <a:prstGeom prst="rect">
            <a:avLst/>
          </a:prstGeom>
          <a:solidFill>
            <a:srgbClr val="4F9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DE4D2"/>
                </a:solidFill>
                <a:latin typeface="IBM Plex Sans"/>
              </a:rPr>
              <a:t>Correctness rests on EX-stage resolution + flush — the predictor only changes when instructions are fetched, never what they compute.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F97D6"/>
                </a:solidFill>
                <a:latin typeface="IBM Plex Mono"/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DE4D2"/>
                </a:solidFill>
                <a:latin typeface="Archivo"/>
              </a:rPr>
              <a:t>Every figure carries its own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6675120" cy="402336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D7462"/>
                </a:solidFill>
                <a:latin typeface="IBM Plex Mono"/>
              </a:rPr>
              <a:t>FORWARDING ON VS OFF — SAME 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D7462"/>
                </a:solidFill>
                <a:latin typeface="IBM Plex Mono"/>
              </a:rPr>
              <a:t>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1945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7D7462"/>
                </a:solidFill>
                <a:latin typeface="IBM Plex Mono"/>
              </a:rPr>
              <a:t>CPI fwd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945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7D7462"/>
                </a:solidFill>
                <a:latin typeface="IBM Plex Mono"/>
              </a:rPr>
              <a:t>CPI fwd 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1945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7D7462"/>
                </a:solidFill>
                <a:latin typeface="IBM Plex Mono"/>
              </a:rPr>
              <a:t>Speedup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DE4D2"/>
                </a:solidFill>
                <a:latin typeface="IBM Plex Mono"/>
              </a:rPr>
              <a:t>fib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603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Mono"/>
              </a:rPr>
              <a:t>1.368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Mono"/>
              </a:rPr>
              <a:t>2.263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5603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Mono"/>
              </a:rPr>
              <a:t>1.65×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DE4D2"/>
                </a:solidFill>
                <a:latin typeface="IBM Plex Mono"/>
              </a:rPr>
              <a:t>bsort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2004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Mono"/>
              </a:rPr>
              <a:t>1.376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Mono"/>
              </a:rPr>
              <a:t>1.904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2004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Mono"/>
              </a:rPr>
              <a:t>1.38×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DE4D2"/>
                </a:solidFill>
                <a:latin typeface="IBM Plex Mono"/>
              </a:rPr>
              <a:t>bloop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8404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Mono"/>
              </a:rPr>
              <a:t>1.396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404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Mono"/>
              </a:rPr>
              <a:t>1.707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8404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EDE4D2"/>
                </a:solidFill>
                <a:latin typeface="IBM Plex Mono"/>
              </a:rPr>
              <a:t>1.22×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434840"/>
            <a:ext cx="6446520" cy="640080"/>
          </a:xfrm>
          <a:prstGeom prst="rect">
            <a:avLst/>
          </a:prstGeom>
          <a:solidFill>
            <a:srgbClr val="24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805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97D6"/>
                </a:solidFill>
                <a:latin typeface="IBM Plex Mono"/>
              </a:rPr>
              <a:t>average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4805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4F97D6"/>
                </a:solidFill>
                <a:latin typeface="IBM Plex Mono"/>
              </a:rPr>
              <a:t>1.387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4805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4F97D6"/>
                </a:solidFill>
                <a:latin typeface="IBM Plex Mono"/>
              </a:rPr>
              <a:t>1.837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4805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4F97D6"/>
                </a:solidFill>
                <a:latin typeface="IBM Plex Mono"/>
              </a:rPr>
              <a:t>1.32×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D7462"/>
                </a:solidFill>
                <a:latin typeface="IBM Plex Sans"/>
              </a:rPr>
              <a:t>A feature is switched off and the same programs re-run — the 'show performance' requirement, not a number with no baseline.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1645920"/>
            <a:ext cx="2011680" cy="210312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182880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4F97D6"/>
                </a:solidFill>
                <a:latin typeface="Archivo"/>
              </a:rPr>
              <a:t>95.5%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26974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FA48D"/>
                </a:solidFill>
                <a:latin typeface="IBM Plex Sans"/>
              </a:rPr>
              <a:t>BHT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06324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D7462"/>
                </a:solidFill>
                <a:latin typeface="IBM Plex Mono"/>
              </a:rPr>
              <a:t>branch-heavy demo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5480" y="1645920"/>
            <a:ext cx="2103120" cy="210312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1828800"/>
            <a:ext cx="16459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6FA97D"/>
                </a:solidFill>
                <a:latin typeface="Archivo"/>
              </a:rPr>
              <a:t>−14.5%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6459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FA48D"/>
                </a:solidFill>
                <a:latin typeface="IBM Plex Sans"/>
              </a:rPr>
              <a:t>cycles saved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063240"/>
            <a:ext cx="16459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D7462"/>
                </a:solidFill>
                <a:latin typeface="IBM Plex Mono"/>
              </a:rPr>
              <a:t>same program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3977639"/>
            <a:ext cx="4206240" cy="169164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0" y="416052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D7462"/>
                </a:solidFill>
                <a:latin typeface="IBM Plex Mono"/>
              </a:rPr>
              <a:t>THE HONEST PART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52628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AFA48D"/>
                </a:solidFill>
                <a:latin typeface="IBM Plex Sans"/>
              </a:rPr>
              <a:t>A 2-bit table helps loop-dominated code (fib 93.4%), and hurts on alternating branches (49.9%, +10%). We report the case where it loses.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263640"/>
            <a:ext cx="54864" cy="502920"/>
          </a:xfrm>
          <a:prstGeom prst="rect">
            <a:avLst/>
          </a:prstGeom>
          <a:solidFill>
            <a:srgbClr val="4F9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DE4D2"/>
                </a:solidFill>
                <a:latin typeface="IBM Plex Sans"/>
              </a:rPr>
              <a:t>The BHT is a cheap heuristic, not a guarantee — and saying so is more useful than hiding the case where it loses.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F97D6"/>
                </a:solidFill>
                <a:latin typeface="IBM Plex Mono"/>
              </a:rPr>
              <a:t>BONUS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DE4D2"/>
                </a:solidFill>
                <a:latin typeface="Archivo"/>
              </a:rPr>
              <a:t>Two shipped, one deliberately cut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6675120" cy="402336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6675120" cy="45720"/>
          </a:xfrm>
          <a:prstGeom prst="rect">
            <a:avLst/>
          </a:prstGeom>
          <a:solidFill>
            <a:srgbClr val="4F9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F97D6"/>
                </a:solidFill>
                <a:latin typeface="IBM Plex Mono"/>
              </a:rPr>
              <a:t>INTERRUPTS — CSRS + MRET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D7462"/>
                </a:solidFill>
                <a:latin typeface="IBM Plex Mono"/>
              </a:rPr>
              <a:t>CSRS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2402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DE4D2"/>
                </a:solidFill>
                <a:latin typeface="IBM Plex Sans"/>
              </a:rPr>
              <a:t>mstatus (MIE/MPIE) · mie · mtvec · mepc · mcause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44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D7462"/>
                </a:solidFill>
                <a:latin typeface="IBM Plex Mono"/>
              </a:rPr>
              <a:t>INSNS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044952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DE4D2"/>
                </a:solidFill>
                <a:latin typeface="IBM Plex Sans"/>
              </a:rPr>
              <a:t>csrrw csrrs csrrc + immediate forms · mret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962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D7462"/>
                </a:solidFill>
                <a:latin typeface="IBM Plex Mono"/>
              </a:rPr>
              <a:t>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849624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DE4D2"/>
                </a:solidFill>
                <a:latin typeface="IBM Plex Sans"/>
              </a:rPr>
              <a:t>testbench-driven irq → timer-like ISR saves regs, toggles a counter, returns via mret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5429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D7462"/>
                </a:solidFill>
                <a:latin typeface="IBM Plex Mono"/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654296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DE4D2"/>
                </a:solidFill>
                <a:latin typeface="IBM Plex Sans"/>
              </a:rPr>
              <a:t>21 assertions PASS · 633/633 trace lines match the ISS · irq held while MIE=0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1645920"/>
            <a:ext cx="4206240" cy="192024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645920"/>
            <a:ext cx="4206240" cy="45720"/>
          </a:xfrm>
          <a:prstGeom prst="rect">
            <a:avLst/>
          </a:prstGeom>
          <a:solidFill>
            <a:srgbClr val="938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1828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385D2"/>
                </a:solidFill>
                <a:latin typeface="IBM Plex Mono"/>
              </a:rPr>
              <a:t>THE TRAP ASYMMETRY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194560"/>
            <a:ext cx="374903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AFA48D"/>
                </a:solidFill>
                <a:latin typeface="IBM Plex Sans"/>
              </a:rPr>
              <a:t>ecall leaves mepc at the ecall itself — the handler adds 4 before mret. An interrupt leaves mepc at an instruction that never ran, so the handler must not. Get this wrong and the handler loops forever.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749039"/>
            <a:ext cx="4206240" cy="192024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3749039"/>
            <a:ext cx="4206240" cy="4572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393192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8862B"/>
                </a:solidFill>
                <a:latin typeface="IBM Plex Mono"/>
              </a:rPr>
              <a:t>I-CACHE — DESIGNED, NOT BUILT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297680"/>
            <a:ext cx="374903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AFA48D"/>
                </a:solidFill>
                <a:latin typeface="IBM Plex Sans"/>
              </a:rPr>
              <a:t>Direct-mapped 128 × 16 B (2 KB) — but the whole suite fits in 2 KB, so the hit rate would read ~99% on every program. A figure that reads 99% proves nothing.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263640"/>
            <a:ext cx="54864" cy="502920"/>
          </a:xfrm>
          <a:prstGeom prst="rect">
            <a:avLst/>
          </a:prstGeom>
          <a:solidFill>
            <a:srgbClr val="4F9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DE4D2"/>
                </a:solidFill>
                <a:latin typeface="IBM Plex Sans"/>
              </a:rPr>
              <a:t>Both bonuses are switchable off — a feature that cannot be disabled cannot be measured.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F97D6"/>
                </a:solidFill>
                <a:latin typeface="IBM Plex Mono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DE4D2"/>
                </a:solidFill>
                <a:latin typeface="Archivo"/>
              </a:rPr>
              <a:t>74 MHz on an Artix-7, with the path that limits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2651760" cy="210312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4F97D6"/>
                </a:solidFill>
                <a:latin typeface="Archivo"/>
              </a:rPr>
              <a:t>74 MHz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FA48D"/>
                </a:solidFill>
                <a:latin typeface="IBM Plex Sans"/>
              </a:rPr>
              <a:t>setup met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D7462"/>
                </a:solidFill>
                <a:latin typeface="IBM Plex Mono"/>
              </a:rPr>
              <a:t>13.5 ns · WNS +0.052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4992" y="1645920"/>
            <a:ext cx="2651760" cy="210312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82880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DE4D2"/>
                </a:solidFill>
                <a:latin typeface="Archivo"/>
              </a:rPr>
              <a:t>1,461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6974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FA48D"/>
                </a:solidFill>
                <a:latin typeface="IBM Plex Sans"/>
              </a:rPr>
              <a:t>LUTs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30632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D7462"/>
                </a:solidFill>
                <a:latin typeface="IBM Plex Mono"/>
              </a:rPr>
              <a:t>post-route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1645920"/>
            <a:ext cx="2651760" cy="210312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82880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DE4D2"/>
                </a:solidFill>
                <a:latin typeface="Archivo"/>
              </a:rPr>
              <a:t>819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6974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FA48D"/>
                </a:solidFill>
                <a:latin typeface="IBM Plex Sans"/>
              </a:rPr>
              <a:t>flip-flops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30632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D7462"/>
                </a:solidFill>
                <a:latin typeface="IBM Plex Mono"/>
              </a:rPr>
              <a:t>post-route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7696" y="1645920"/>
            <a:ext cx="2651760" cy="210312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6" y="182880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B8862B"/>
                </a:solidFill>
                <a:latin typeface="Archiv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26974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FA48D"/>
                </a:solidFill>
                <a:latin typeface="IBM Plex Sans"/>
              </a:rPr>
              <a:t>BRAMs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30632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D7462"/>
                </a:solidFill>
                <a:latin typeface="IBM Plex Mono"/>
              </a:rPr>
              <a:t>IMEM + DMEM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11091672" cy="2103120"/>
          </a:xfrm>
          <a:prstGeom prst="rect">
            <a:avLst/>
          </a:prstGeom>
          <a:solidFill>
            <a:srgbClr val="24201A"/>
          </a:solidFill>
          <a:ln w="12700">
            <a:solidFill>
              <a:srgbClr val="3A3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605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D7462"/>
                </a:solidFill>
                <a:latin typeface="IBM Plex Mono"/>
              </a:rPr>
              <a:t>CRITICAL PATH — THE LOAD-TO-BRANCH 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2628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AFA48D"/>
                </a:solidFill>
                <a:latin typeface="IBM Plex Sans"/>
              </a:rPr>
              <a:t>DMEM block-RAM clock-to-output (2.454 ns, the largest single term) → byte-lane select + sign extension in WB → the MEM/WB→EX forwarding mux → branch comparator → redirect into the PC clock-enable.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263640"/>
            <a:ext cx="54864" cy="502920"/>
          </a:xfrm>
          <a:prstGeom prst="rect">
            <a:avLst/>
          </a:prstGeom>
          <a:solidFill>
            <a:srgbClr val="4F9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DE4D2"/>
                </a:solidFill>
                <a:latin typeface="IBM Plex Sans"/>
              </a:rPr>
              <a:t>A 16-instruction minimum; we shipped 46, verified byte-for-byte, synthesized at 74 MHz — with both bonuses green.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